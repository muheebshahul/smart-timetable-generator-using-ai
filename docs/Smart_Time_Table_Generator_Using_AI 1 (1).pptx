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5" r:id="rId1"/>
  </p:sld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81E765-2E89-1B4C-41AF-37FF2C76CBBA}" v="508" dt="2025-12-19T06:14:18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815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28D29-1ECB-41DF-951B-2A23F95AD026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699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296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705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795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053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00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65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497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082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456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83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Smart Time Table Generator Using AI</a:t>
            </a:r>
            <a:endParaRPr lang="en-US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Mini Project – CSD 334</a:t>
            </a:r>
          </a:p>
          <a:p>
            <a:r>
              <a:rPr b="1" dirty="0"/>
              <a:t>Domain</a:t>
            </a:r>
            <a:r>
              <a:rPr dirty="0"/>
              <a:t>: </a:t>
            </a:r>
            <a:r>
              <a:rPr lang="en-IN" dirty="0"/>
              <a:t>   </a:t>
            </a:r>
            <a:r>
              <a:rPr dirty="0"/>
              <a:t>Web Development / Artificial Intelligence</a:t>
            </a:r>
          </a:p>
          <a:p>
            <a:r>
              <a:rPr b="1" dirty="0"/>
              <a:t>Guide</a:t>
            </a:r>
            <a:r>
              <a:rPr dirty="0"/>
              <a:t>:</a:t>
            </a:r>
            <a:r>
              <a:rPr lang="en-IN" dirty="0"/>
              <a:t>  </a:t>
            </a:r>
            <a:r>
              <a:rPr dirty="0"/>
              <a:t> </a:t>
            </a:r>
            <a:r>
              <a:rPr lang="en-IN" dirty="0"/>
              <a:t>Saini Jacob Soman</a:t>
            </a:r>
          </a:p>
          <a:p>
            <a:r>
              <a:rPr lang="en-IN" dirty="0"/>
              <a:t>               Asst Professor, </a:t>
            </a:r>
            <a:r>
              <a:rPr lang="en-IN" sz="2000" dirty="0"/>
              <a:t>CSE Department</a:t>
            </a:r>
          </a:p>
          <a:p>
            <a:r>
              <a:rPr b="1" dirty="0"/>
              <a:t>Team Members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dirty="0"/>
              <a:t>• Muheeb P S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dirty="0"/>
              <a:t>• </a:t>
            </a:r>
            <a:r>
              <a:rPr lang="en-IN" dirty="0"/>
              <a:t>Ladheed Nousharvan P</a:t>
            </a:r>
          </a:p>
          <a:p>
            <a:pPr marL="0" indent="0">
              <a:buNone/>
            </a:pPr>
            <a:r>
              <a:rPr lang="en-IN" dirty="0"/>
              <a:t>    • Rahul T R</a:t>
            </a:r>
          </a:p>
          <a:p>
            <a:pPr marL="0" indent="0">
              <a:buNone/>
            </a:pPr>
            <a:r>
              <a:rPr lang="en-IN" dirty="0"/>
              <a:t>    • Sanju Santhosh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- </a:t>
            </a:r>
            <a:r>
              <a:rPr dirty="0"/>
              <a:t>Manual timetable creation is time-consuming and error-prone.</a:t>
            </a:r>
          </a:p>
          <a:p>
            <a:r>
              <a:rPr lang="en-IN" dirty="0"/>
              <a:t>- </a:t>
            </a:r>
            <a:r>
              <a:rPr dirty="0"/>
              <a:t>Difficulty in handling constraints like faculty availability,</a:t>
            </a:r>
          </a:p>
          <a:p>
            <a:r>
              <a:rPr lang="en-IN" dirty="0"/>
              <a:t>   </a:t>
            </a:r>
            <a:r>
              <a:rPr dirty="0"/>
              <a:t>classroom allocation, and conflict-free scheduling.</a:t>
            </a:r>
          </a:p>
          <a:p>
            <a:r>
              <a:rPr lang="en-IN" dirty="0"/>
              <a:t>- </a:t>
            </a:r>
            <a:r>
              <a:rPr dirty="0"/>
              <a:t>Existing systems lack adaptability to dynamic changes.</a:t>
            </a:r>
          </a:p>
          <a:p>
            <a:r>
              <a:rPr lang="en-IN" dirty="0"/>
              <a:t>- </a:t>
            </a:r>
            <a:r>
              <a:rPr dirty="0"/>
              <a:t>Need an intelligent, automated solution.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D67884-099E-FFA7-1D65-C64E05F9211D}"/>
              </a:ext>
            </a:extLst>
          </p:cNvPr>
          <p:cNvSpPr txBox="1"/>
          <p:nvPr/>
        </p:nvSpPr>
        <p:spPr>
          <a:xfrm>
            <a:off x="363794" y="331959"/>
            <a:ext cx="58648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Literature Survey – Overviews</a:t>
            </a:r>
            <a:endParaRPr lang="en-IN" sz="32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AC9B76-3F9E-1832-6082-0533D5F89A9C}"/>
              </a:ext>
            </a:extLst>
          </p:cNvPr>
          <p:cNvCxnSpPr/>
          <p:nvPr/>
        </p:nvCxnSpPr>
        <p:spPr>
          <a:xfrm>
            <a:off x="442451" y="916734"/>
            <a:ext cx="840060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1F7F7E-C781-8828-8B5B-819EC123C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23947"/>
              </p:ext>
            </p:extLst>
          </p:nvPr>
        </p:nvGraphicFramePr>
        <p:xfrm>
          <a:off x="363794" y="1051566"/>
          <a:ext cx="8658279" cy="5101684"/>
        </p:xfrm>
        <a:graphic>
          <a:graphicData uri="http://schemas.openxmlformats.org/drawingml/2006/table">
            <a:tbl>
              <a:tblPr/>
              <a:tblGrid>
                <a:gridCol w="1236897">
                  <a:extLst>
                    <a:ext uri="{9D8B030D-6E8A-4147-A177-3AD203B41FA5}">
                      <a16:colId xmlns:a16="http://schemas.microsoft.com/office/drawing/2014/main" val="1368839532"/>
                    </a:ext>
                  </a:extLst>
                </a:gridCol>
                <a:gridCol w="1236897">
                  <a:extLst>
                    <a:ext uri="{9D8B030D-6E8A-4147-A177-3AD203B41FA5}">
                      <a16:colId xmlns:a16="http://schemas.microsoft.com/office/drawing/2014/main" val="3792187163"/>
                    </a:ext>
                  </a:extLst>
                </a:gridCol>
                <a:gridCol w="1236897">
                  <a:extLst>
                    <a:ext uri="{9D8B030D-6E8A-4147-A177-3AD203B41FA5}">
                      <a16:colId xmlns:a16="http://schemas.microsoft.com/office/drawing/2014/main" val="2232262253"/>
                    </a:ext>
                  </a:extLst>
                </a:gridCol>
                <a:gridCol w="1236897">
                  <a:extLst>
                    <a:ext uri="{9D8B030D-6E8A-4147-A177-3AD203B41FA5}">
                      <a16:colId xmlns:a16="http://schemas.microsoft.com/office/drawing/2014/main" val="2838086562"/>
                    </a:ext>
                  </a:extLst>
                </a:gridCol>
                <a:gridCol w="1236897">
                  <a:extLst>
                    <a:ext uri="{9D8B030D-6E8A-4147-A177-3AD203B41FA5}">
                      <a16:colId xmlns:a16="http://schemas.microsoft.com/office/drawing/2014/main" val="3686072319"/>
                    </a:ext>
                  </a:extLst>
                </a:gridCol>
                <a:gridCol w="1236897">
                  <a:extLst>
                    <a:ext uri="{9D8B030D-6E8A-4147-A177-3AD203B41FA5}">
                      <a16:colId xmlns:a16="http://schemas.microsoft.com/office/drawing/2014/main" val="3761016726"/>
                    </a:ext>
                  </a:extLst>
                </a:gridCol>
                <a:gridCol w="1236897">
                  <a:extLst>
                    <a:ext uri="{9D8B030D-6E8A-4147-A177-3AD203B41FA5}">
                      <a16:colId xmlns:a16="http://schemas.microsoft.com/office/drawing/2014/main" val="62931627"/>
                    </a:ext>
                  </a:extLst>
                </a:gridCol>
              </a:tblGrid>
              <a:tr h="1441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u="sng"/>
                        <a:t>No.</a:t>
                      </a:r>
                      <a:endParaRPr lang="en-IN" sz="900" u="sng"/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u="sng"/>
                        <a:t>Paper Title</a:t>
                      </a:r>
                      <a:endParaRPr lang="en-IN" sz="900" u="sng"/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u="sng"/>
                        <a:t>Year</a:t>
                      </a:r>
                      <a:endParaRPr lang="en-IN" sz="900" u="sng"/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u="sng"/>
                        <a:t>Publisher</a:t>
                      </a:r>
                      <a:endParaRPr lang="en-IN" sz="900" u="sng"/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u="sng"/>
                        <a:t>Technique / Approach</a:t>
                      </a:r>
                      <a:endParaRPr lang="en-IN" sz="900" u="sng"/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u="sng"/>
                        <a:t>Pros</a:t>
                      </a:r>
                      <a:endParaRPr lang="en-IN" sz="900" u="sng"/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u="sng" dirty="0"/>
                        <a:t>Cons</a:t>
                      </a:r>
                      <a:endParaRPr lang="en-IN" sz="900" u="sng" dirty="0"/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44427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Optimization Techniques in University Timetabling Problem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2023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Elsevier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Multi-Objective Optimization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Handles complex constraints, scalable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Requires heavy tuning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295648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Mathematical Model for Course Timetabling With Faculty Constraints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2021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IEEE Access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Mixed-Integer Programming (MIP)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High accuracy, strong structure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Slow on large datasets, computationally expensive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5777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3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Educational Timetabling: Problems and State-of-the-Art Results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2022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Elsevier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Survey + Benchmark Analysis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Strong conceptual foundation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Lacks implementation details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166419"/>
                  </a:ext>
                </a:extLst>
              </a:tr>
              <a:tr h="674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4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Optimization of University Timetables Considering Operational Constraints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2024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Elsevier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Constraint Optimization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Incorporates real-world constraints like environment &amp; operations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Requires precise input, limited AI integration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99905"/>
                  </a:ext>
                </a:extLst>
              </a:tr>
              <a:tr h="409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5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Two-Stage Stochastic Programming for Course Timetabling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2019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Elsevier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Stochastic Optimization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Good for uncertain environments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Complex model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421587"/>
                  </a:ext>
                </a:extLst>
              </a:tr>
              <a:tr h="409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6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Fairness in Examination Timetabling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2019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Elsevier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Constraint Programming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Improves fairness, minimizes student stress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Limited scalability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863983"/>
                  </a:ext>
                </a:extLst>
              </a:tr>
              <a:tr h="409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7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Large-Scale Timetabling With Adaptive Tabu Search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2022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Elsevier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Tabu Search Metaheuristic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Strong for large and complex scheduling problems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Sensitive to parameter tuning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621894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8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Exam Timetabling Using Graph Coloring and RFID Integration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2022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Elsevier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Graph Coloring Model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Simple, effective conflict reduction, integrates modern tech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Works mainly for exams, limited for full course timetabling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879130"/>
                  </a:ext>
                </a:extLst>
              </a:tr>
              <a:tr h="409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Multi-Objective Model for University Course Timetabling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2024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Elsevier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Mathematical Programming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Balances student satisfaction and resource usage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High computational requirements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071563"/>
                  </a:ext>
                </a:extLst>
              </a:tr>
              <a:tr h="409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10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Hybrid Genetic + Greedy Hyper-Heuristic for Course Scheduling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2025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Elsevier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Hyper-Heuristic (GA + Greedy)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Fast, adaptive, improves solution quality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Complex implementation</a:t>
                      </a:r>
                    </a:p>
                  </a:txBody>
                  <a:tcPr marL="13189" marR="13189" marT="6595" marB="6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749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96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Key Papers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0" cy="5012266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sz="1200" b="1" dirty="0"/>
              <a:t>1. Optimization Techniques in University Timetabling Problem   (Elsevier – 2023)</a:t>
            </a:r>
            <a:endParaRPr lang="en-US" sz="1200" dirty="0"/>
          </a:p>
          <a:p>
            <a:r>
              <a:rPr lang="en-US" sz="1200" b="1" dirty="0"/>
              <a:t>Technique Used:</a:t>
            </a:r>
            <a:r>
              <a:rPr lang="en-US" sz="1200" dirty="0"/>
              <a:t> Multi-Objective Optimization + Heuristics</a:t>
            </a:r>
          </a:p>
          <a:p>
            <a:r>
              <a:rPr lang="en-US" sz="1200" b="1" dirty="0"/>
              <a:t>Highlights:</a:t>
            </a:r>
            <a:endParaRPr lang="en-US" sz="1200" dirty="0"/>
          </a:p>
          <a:p>
            <a:pPr lvl="1"/>
            <a:r>
              <a:rPr lang="en-US" sz="1200" dirty="0"/>
              <a:t>Reviews state-of-the-art optimization algorithms</a:t>
            </a:r>
          </a:p>
          <a:p>
            <a:pPr lvl="1"/>
            <a:r>
              <a:rPr lang="en-US" sz="1200" dirty="0"/>
              <a:t>Identifies gaps and challenges in academic timetabling</a:t>
            </a:r>
          </a:p>
          <a:p>
            <a:r>
              <a:rPr lang="en-US" sz="1200" b="1" dirty="0"/>
              <a:t>Strength:</a:t>
            </a:r>
            <a:r>
              <a:rPr lang="en-US" sz="1200" dirty="0"/>
              <a:t> Scalable for large, complex institutional schedules</a:t>
            </a:r>
          </a:p>
          <a:p>
            <a:r>
              <a:rPr lang="en-US" sz="1200" b="1" dirty="0"/>
              <a:t>Limitation:</a:t>
            </a:r>
            <a:r>
              <a:rPr lang="en-US" sz="1200" dirty="0"/>
              <a:t> Performance heavily depends on constraint setup and tuning</a:t>
            </a:r>
          </a:p>
          <a:p>
            <a:pPr marL="0" indent="0">
              <a:buNone/>
            </a:pPr>
            <a:r>
              <a:rPr lang="en-US" sz="1200" b="1" dirty="0"/>
              <a:t>    2. A Mathematical Model for Course Timetabling With Faculty-Course Assignment Constraints   (IEEE Access – 2021)</a:t>
            </a:r>
            <a:endParaRPr lang="en-US" sz="1200" dirty="0"/>
          </a:p>
          <a:p>
            <a:r>
              <a:rPr lang="en-US" sz="1200" b="1" dirty="0"/>
              <a:t>Technique Used:</a:t>
            </a:r>
            <a:r>
              <a:rPr lang="en-US" sz="1200" dirty="0"/>
              <a:t> Mixed-Integer Programming (MIP)</a:t>
            </a:r>
          </a:p>
          <a:p>
            <a:r>
              <a:rPr lang="en-US" sz="1200" b="1" dirty="0"/>
              <a:t>Highlights:</a:t>
            </a:r>
            <a:endParaRPr lang="en-US" sz="1200" dirty="0"/>
          </a:p>
          <a:p>
            <a:pPr lvl="1"/>
            <a:r>
              <a:rPr lang="en-US" sz="1200" dirty="0"/>
              <a:t>Provides formal mathematical formulation</a:t>
            </a:r>
          </a:p>
          <a:p>
            <a:pPr lvl="1"/>
            <a:r>
              <a:rPr lang="en-US" sz="1200" dirty="0"/>
              <a:t>Ensures high accuracy in conflict-free scheduling</a:t>
            </a:r>
          </a:p>
          <a:p>
            <a:r>
              <a:rPr lang="en-US" sz="1200" b="1" dirty="0"/>
              <a:t>Strength:</a:t>
            </a:r>
            <a:r>
              <a:rPr lang="en-US" sz="1200" dirty="0"/>
              <a:t> Strong, structured approach suitable for precise scheduling</a:t>
            </a:r>
          </a:p>
          <a:p>
            <a:r>
              <a:rPr lang="en-US" sz="1200" b="1" dirty="0"/>
              <a:t>Limitation:</a:t>
            </a:r>
            <a:r>
              <a:rPr lang="en-US" sz="1200" dirty="0"/>
              <a:t> Slow for very large datasets due to high computation cost</a:t>
            </a:r>
          </a:p>
          <a:p>
            <a:pPr marL="0" indent="0">
              <a:buNone/>
            </a:pPr>
            <a:endParaRPr sz="900" b="1" dirty="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Base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1"/>
            <a:ext cx="7445477" cy="4023360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sz="1200" b="1" dirty="0"/>
              <a:t>Base Paper Title:</a:t>
            </a:r>
          </a:p>
          <a:p>
            <a:r>
              <a:rPr lang="en-US" sz="1200" b="1" dirty="0"/>
              <a:t>Educational Timetabling: Problems, Benchmarks, and State-of-the-Art Results</a:t>
            </a:r>
            <a:br>
              <a:rPr lang="en-US" sz="1200" dirty="0"/>
            </a:br>
            <a:r>
              <a:rPr lang="en-US" sz="1200" b="1" i="1" dirty="0"/>
              <a:t>European Journal of Operational Research (Elsevier), 2022</a:t>
            </a:r>
            <a:endParaRPr lang="en-US" sz="1200" b="1" dirty="0"/>
          </a:p>
          <a:p>
            <a:r>
              <a:rPr lang="en-US" sz="1200" b="1" dirty="0"/>
              <a:t>Why This Base Paper Was Selected: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Provides the </a:t>
            </a:r>
            <a:r>
              <a:rPr lang="en-US" sz="1200" b="1" dirty="0"/>
              <a:t>fundamental theory</a:t>
            </a:r>
            <a:r>
              <a:rPr lang="en-US" sz="1200" dirty="0"/>
              <a:t> behind timetabling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Defines standard benchmark datasets used in research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Reviews classical + modern approaches (heuristics, MIP, constraint programming)</a:t>
            </a:r>
          </a:p>
          <a:p>
            <a:r>
              <a:rPr lang="en-US" sz="1200" b="1" dirty="0"/>
              <a:t>Strengths: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Solid conceptual foundation for designing a timetable generator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Helps identify the correct constraints and evaluation metrics</a:t>
            </a:r>
          </a:p>
          <a:p>
            <a:r>
              <a:rPr lang="en-US" sz="1200" b="1" dirty="0"/>
              <a:t>Limitations: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Does not implement AI/ML models directly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Focuses more on theory than real-time implementation</a:t>
            </a:r>
          </a:p>
          <a:p>
            <a:pPr algn="ctr"/>
            <a:r>
              <a:rPr lang="en-IN" sz="1600" b="1" dirty="0">
                <a:ea typeface="Calibri"/>
                <a:cs typeface="Calibri"/>
              </a:rPr>
              <a:t>This paper serves as the foundation of our project.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Proposed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36171"/>
            <a:ext cx="10202829" cy="4166830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sz="1800" b="1">
                <a:ea typeface="+mn-lt"/>
                <a:cs typeface="+mn-lt"/>
              </a:rPr>
              <a:t>Proposed Improvement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  •    Extend the Genetic Algorithm–based timetabling approach from the base  paper</a:t>
            </a:r>
            <a:endParaRPr sz="18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  •    Incorporate dynamic constraint handling (faculty availability, room changes)</a:t>
            </a:r>
            <a:endParaRPr sz="18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  •    Integrate the AI scheduler with a web-based system for easy input and updates</a:t>
            </a:r>
            <a:endParaRPr sz="1800">
              <a:ea typeface="Calibri"/>
              <a:cs typeface="Calibri"/>
            </a:endParaRPr>
          </a:p>
          <a:p>
            <a:endParaRPr sz="1800">
              <a:ea typeface="Calibri"/>
              <a:cs typeface="Calibri"/>
            </a:endParaRPr>
          </a:p>
          <a:p>
            <a:r>
              <a:rPr lang="en-US" sz="1800" b="1">
                <a:ea typeface="+mn-lt"/>
                <a:cs typeface="+mn-lt"/>
              </a:rPr>
              <a:t>Expected Benefits</a:t>
            </a:r>
          </a:p>
          <a:p>
            <a:r>
              <a:rPr lang="en-US" sz="1800">
                <a:ea typeface="+mn-lt"/>
                <a:cs typeface="+mn-lt"/>
              </a:rPr>
              <a:t> •    Faster timetable generation and regeneration</a:t>
            </a:r>
            <a:endParaRPr sz="18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  •    Conflict-free and optimized schedules</a:t>
            </a:r>
          </a:p>
          <a:p>
            <a:r>
              <a:rPr lang="en-US" sz="1800">
                <a:ea typeface="+mn-lt"/>
                <a:cs typeface="+mn-lt"/>
              </a:rPr>
              <a:t> •    Reduced manual effort and better adaptability</a:t>
            </a:r>
            <a:endParaRPr sz="1800" dirty="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F310A0-BF43-A0A4-6A42-0D556B143E72}"/>
              </a:ext>
            </a:extLst>
          </p:cNvPr>
          <p:cNvSpPr txBox="1"/>
          <p:nvPr/>
        </p:nvSpPr>
        <p:spPr>
          <a:xfrm>
            <a:off x="501444" y="5685668"/>
            <a:ext cx="819027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 dirty="0"/>
              <a:t>Input Data → Constraint Analyzer → Optimization Engine (GA/IMP) → Conflict Handler → Timetable Output </a:t>
            </a:r>
            <a:endParaRPr lang="en-US" sz="1400" b="1" dirty="0">
              <a:ea typeface="Calibri"/>
              <a:cs typeface="Calibri"/>
            </a:endParaRPr>
          </a:p>
          <a:p>
            <a:pPr algn="ct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Conducted literature survey</a:t>
            </a:r>
          </a:p>
          <a:p>
            <a:r>
              <a:rPr dirty="0"/>
              <a:t>• Selected suitable base paper</a:t>
            </a:r>
            <a:endParaRPr lang="en-IN" dirty="0"/>
          </a:p>
          <a:p>
            <a:r>
              <a:rPr lang="en-IN" dirty="0"/>
              <a:t>• Analysed modern optimization methods (GA, MIP, Heuristics)</a:t>
            </a:r>
            <a:endParaRPr dirty="0"/>
          </a:p>
          <a:p>
            <a:r>
              <a:rPr dirty="0"/>
              <a:t>• Proposed AI-</a:t>
            </a:r>
            <a:r>
              <a:rPr lang="en-IN" dirty="0"/>
              <a:t>driven</a:t>
            </a:r>
            <a:r>
              <a:rPr dirty="0"/>
              <a:t> timetable system</a:t>
            </a:r>
          </a:p>
          <a:p>
            <a:endParaRPr dirty="0"/>
          </a:p>
          <a:p>
            <a:r>
              <a:rPr b="1" dirty="0"/>
              <a:t>Future Work:</a:t>
            </a:r>
          </a:p>
          <a:p>
            <a:r>
              <a:rPr dirty="0"/>
              <a:t>• Implement ML optimization</a:t>
            </a:r>
          </a:p>
          <a:p>
            <a:r>
              <a:rPr dirty="0"/>
              <a:t>• Add real-time adjustments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140</TotalTime>
  <Words>688</Words>
  <Application>Microsoft Office PowerPoint</Application>
  <PresentationFormat>On-screen Show (4:3)</PresentationFormat>
  <Paragraphs>143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Retrospect</vt:lpstr>
      <vt:lpstr>Smart Time Table Generator Using AI</vt:lpstr>
      <vt:lpstr>Problem Statement</vt:lpstr>
      <vt:lpstr>PowerPoint Presentation</vt:lpstr>
      <vt:lpstr>Key Papers Discussion</vt:lpstr>
      <vt:lpstr>Base Paper</vt:lpstr>
      <vt:lpstr>Proposed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Sanju Santhosh</cp:lastModifiedBy>
  <cp:revision>145</cp:revision>
  <dcterms:created xsi:type="dcterms:W3CDTF">2013-01-27T09:14:16Z</dcterms:created>
  <dcterms:modified xsi:type="dcterms:W3CDTF">2026-01-08T08:39:01Z</dcterms:modified>
  <cp:category/>
</cp:coreProperties>
</file>