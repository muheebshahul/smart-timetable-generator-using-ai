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Prata"/>
      <p:regular r:id="rId17"/>
    </p:embeddedFont>
    <p:embeddedFont>
      <p:font typeface="Prata"/>
      <p:regular r:id="rId18"/>
    </p:embeddedFont>
    <p:embeddedFont>
      <p:font typeface="Manrope"/>
      <p:regular r:id="rId1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7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slideLayout" Target="../slideLayouts/slideLayout10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916674"/>
            <a:ext cx="7556421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Smart Timetable Generator Using AI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793790" y="4454485"/>
            <a:ext cx="75564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Project First Review | Computer Science Department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793790" y="4995267"/>
            <a:ext cx="75564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Team: Muheeb P S, Sanju Santhosh, Rahul T R, Ladheed Nousharvan, Aadarsh S L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563773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Introduction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3580686"/>
            <a:ext cx="446484" cy="446484"/>
          </a:xfrm>
          <a:prstGeom prst="roundRect">
            <a:avLst>
              <a:gd name="adj" fmla="val 6668"/>
            </a:avLst>
          </a:prstGeom>
          <a:solidFill>
            <a:srgbClr val="404245"/>
          </a:solidFill>
          <a:ln/>
        </p:spPr>
      </p:sp>
      <p:sp>
        <p:nvSpPr>
          <p:cNvPr id="4" name="Text 2"/>
          <p:cNvSpPr/>
          <p:nvPr/>
        </p:nvSpPr>
        <p:spPr>
          <a:xfrm>
            <a:off x="1438632" y="364890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Growing Complexity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438632" y="4078129"/>
            <a:ext cx="3537347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Academic scheduling has become increasingly complex with diverse course offerings, multiple electives, and specialized lab requirements across departments.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223986" y="3580686"/>
            <a:ext cx="446484" cy="446484"/>
          </a:xfrm>
          <a:prstGeom prst="roundRect">
            <a:avLst>
              <a:gd name="adj" fmla="val 6668"/>
            </a:avLst>
          </a:prstGeom>
          <a:solidFill>
            <a:srgbClr val="404245"/>
          </a:solidFill>
          <a:ln/>
        </p:spPr>
      </p:sp>
      <p:sp>
        <p:nvSpPr>
          <p:cNvPr id="7" name="Text 5"/>
          <p:cNvSpPr/>
          <p:nvPr/>
        </p:nvSpPr>
        <p:spPr>
          <a:xfrm>
            <a:off x="5868829" y="3648908"/>
            <a:ext cx="3328511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Manual Process Limitations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5868829" y="4078129"/>
            <a:ext cx="3537466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Traditional manual timetable creation is time-consuming, error-prone, and struggles to accommodate all constraints simultaneously without conflicts.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9654302" y="3580686"/>
            <a:ext cx="446484" cy="446484"/>
          </a:xfrm>
          <a:prstGeom prst="roundRect">
            <a:avLst>
              <a:gd name="adj" fmla="val 6668"/>
            </a:avLst>
          </a:prstGeom>
          <a:solidFill>
            <a:srgbClr val="404245"/>
          </a:solidFill>
          <a:ln/>
        </p:spPr>
      </p:sp>
      <p:sp>
        <p:nvSpPr>
          <p:cNvPr id="10" name="Text 8"/>
          <p:cNvSpPr/>
          <p:nvPr/>
        </p:nvSpPr>
        <p:spPr>
          <a:xfrm>
            <a:off x="10299144" y="3648908"/>
            <a:ext cx="2754868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Automation Imperative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0299144" y="4078129"/>
            <a:ext cx="3537466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Educational institutions urgently need intelligent automated systems that can efficiently manage scheduling constraints while optimizing resource utilization.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35054"/>
            <a:ext cx="5747742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Motivation &amp; Objectives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650915" y="3252787"/>
            <a:ext cx="6565106" cy="2641640"/>
          </a:xfrm>
          <a:prstGeom prst="roundRect">
            <a:avLst>
              <a:gd name="adj" fmla="val 1127"/>
            </a:avLst>
          </a:prstGeom>
          <a:solidFill>
            <a:srgbClr val="84482D"/>
          </a:solidFill>
          <a:ln/>
        </p:spPr>
      </p:sp>
      <p:sp>
        <p:nvSpPr>
          <p:cNvPr id="4" name="Text 2"/>
          <p:cNvSpPr/>
          <p:nvPr/>
        </p:nvSpPr>
        <p:spPr>
          <a:xfrm>
            <a:off x="849273" y="345114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Motivation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849273" y="3959662"/>
            <a:ext cx="6168390" cy="1478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Time-consuming manual process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Teacher and resource conflicts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Difficulty managing labs and electives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Inefficient scheduling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564874" y="345114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Objectives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7564874" y="3959662"/>
            <a:ext cx="6279356" cy="1865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Automate timetable generation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Avoid teacher clashes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Handle lab sessions as continuous blocks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Synchronize electives across classes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Optimize using AI techniques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00369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Problem Statement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3017282"/>
            <a:ext cx="6422231" cy="1506736"/>
          </a:xfrm>
          <a:prstGeom prst="roundRect">
            <a:avLst>
              <a:gd name="adj" fmla="val 7282"/>
            </a:avLst>
          </a:prstGeom>
          <a:solidFill>
            <a:srgbClr val="212326"/>
          </a:solidFill>
          <a:ln w="22860">
            <a:solidFill>
              <a:srgbClr val="595B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0930" y="3017282"/>
            <a:ext cx="91440" cy="1506736"/>
          </a:xfrm>
          <a:prstGeom prst="roundRect">
            <a:avLst>
              <a:gd name="adj" fmla="val 32558"/>
            </a:avLst>
          </a:prstGeom>
          <a:solidFill>
            <a:srgbClr val="84482D"/>
          </a:solidFill>
          <a:ln/>
        </p:spPr>
      </p:sp>
      <p:sp>
        <p:nvSpPr>
          <p:cNvPr id="5" name="Text 3"/>
          <p:cNvSpPr/>
          <p:nvPr/>
        </p:nvSpPr>
        <p:spPr>
          <a:xfrm>
            <a:off x="1083588" y="3238500"/>
            <a:ext cx="2497217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Inefficiency &amp; Errors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083588" y="3667720"/>
            <a:ext cx="591121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Manual scheduling is inefficient and error-prone, requiring extensive time to identify and resolve conflicts.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414379" y="3017282"/>
            <a:ext cx="6422231" cy="1506736"/>
          </a:xfrm>
          <a:prstGeom prst="roundRect">
            <a:avLst>
              <a:gd name="adj" fmla="val 7282"/>
            </a:avLst>
          </a:prstGeom>
          <a:solidFill>
            <a:srgbClr val="212326"/>
          </a:solidFill>
          <a:ln w="22860">
            <a:solidFill>
              <a:srgbClr val="595B5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91519" y="3017282"/>
            <a:ext cx="91440" cy="1506736"/>
          </a:xfrm>
          <a:prstGeom prst="roundRect">
            <a:avLst>
              <a:gd name="adj" fmla="val 32558"/>
            </a:avLst>
          </a:prstGeom>
          <a:solidFill>
            <a:srgbClr val="84482D"/>
          </a:solidFill>
          <a:ln/>
        </p:spPr>
      </p:sp>
      <p:sp>
        <p:nvSpPr>
          <p:cNvPr id="9" name="Text 7"/>
          <p:cNvSpPr/>
          <p:nvPr/>
        </p:nvSpPr>
        <p:spPr>
          <a:xfrm>
            <a:off x="7704177" y="3238500"/>
            <a:ext cx="294989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High Conflict Probability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7704177" y="3667720"/>
            <a:ext cx="591121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Without intelligent systems, scheduling conflicts between teachers, rooms, and time slots occur frequently.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793790" y="4722376"/>
            <a:ext cx="6422231" cy="1506736"/>
          </a:xfrm>
          <a:prstGeom prst="roundRect">
            <a:avLst>
              <a:gd name="adj" fmla="val 7282"/>
            </a:avLst>
          </a:prstGeom>
          <a:solidFill>
            <a:srgbClr val="212326"/>
          </a:solidFill>
          <a:ln w="22860">
            <a:solidFill>
              <a:srgbClr val="595B5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0930" y="4722376"/>
            <a:ext cx="91440" cy="1506736"/>
          </a:xfrm>
          <a:prstGeom prst="roundRect">
            <a:avLst>
              <a:gd name="adj" fmla="val 32558"/>
            </a:avLst>
          </a:prstGeom>
          <a:solidFill>
            <a:srgbClr val="84482D"/>
          </a:solidFill>
          <a:ln/>
        </p:spPr>
      </p:sp>
      <p:sp>
        <p:nvSpPr>
          <p:cNvPr id="13" name="Text 11"/>
          <p:cNvSpPr/>
          <p:nvPr/>
        </p:nvSpPr>
        <p:spPr>
          <a:xfrm>
            <a:off x="1083588" y="4943594"/>
            <a:ext cx="3048357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Poor Resource Utilization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083588" y="5372814"/>
            <a:ext cx="591121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Manual methods lead to suboptimal use of time slots, classrooms, and teaching resources.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7414379" y="4722376"/>
            <a:ext cx="6422231" cy="1506736"/>
          </a:xfrm>
          <a:prstGeom prst="roundRect">
            <a:avLst>
              <a:gd name="adj" fmla="val 7282"/>
            </a:avLst>
          </a:prstGeom>
          <a:solidFill>
            <a:srgbClr val="212326"/>
          </a:solidFill>
          <a:ln w="22860">
            <a:solidFill>
              <a:srgbClr val="595B5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91519" y="4722376"/>
            <a:ext cx="91440" cy="1506736"/>
          </a:xfrm>
          <a:prstGeom prst="roundRect">
            <a:avLst>
              <a:gd name="adj" fmla="val 32558"/>
            </a:avLst>
          </a:prstGeom>
          <a:solidFill>
            <a:srgbClr val="84482D"/>
          </a:solidFill>
          <a:ln/>
        </p:spPr>
      </p:sp>
      <p:sp>
        <p:nvSpPr>
          <p:cNvPr id="17" name="Text 15"/>
          <p:cNvSpPr/>
          <p:nvPr/>
        </p:nvSpPr>
        <p:spPr>
          <a:xfrm>
            <a:off x="7704177" y="4943594"/>
            <a:ext cx="248114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Need for Intelligence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7704177" y="5372814"/>
            <a:ext cx="591121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An intelligent automated system is essential to handle complex constraints efficiently.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090851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Research Gap</a:t>
            </a:r>
            <a:endParaRPr lang="en-US" sz="3900" dirty="0"/>
          </a:p>
        </p:txBody>
      </p:sp>
      <p:sp>
        <p:nvSpPr>
          <p:cNvPr id="4" name="Shape 1"/>
          <p:cNvSpPr/>
          <p:nvPr/>
        </p:nvSpPr>
        <p:spPr>
          <a:xfrm>
            <a:off x="6280190" y="2114014"/>
            <a:ext cx="99179" cy="99179"/>
          </a:xfrm>
          <a:prstGeom prst="roundRect">
            <a:avLst>
              <a:gd name="adj" fmla="val 460985"/>
            </a:avLst>
          </a:prstGeom>
          <a:solidFill>
            <a:srgbClr val="84482D"/>
          </a:solidFill>
          <a:ln/>
        </p:spPr>
      </p:sp>
      <p:sp>
        <p:nvSpPr>
          <p:cNvPr id="5" name="Text 2"/>
          <p:cNvSpPr/>
          <p:nvPr/>
        </p:nvSpPr>
        <p:spPr>
          <a:xfrm>
            <a:off x="6577727" y="2008584"/>
            <a:ext cx="2552581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Limited Optimization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6577727" y="2437805"/>
            <a:ext cx="7258883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Existing systems lack sophisticated optimization techniques for timetable generation.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6280190" y="3575149"/>
            <a:ext cx="99179" cy="99179"/>
          </a:xfrm>
          <a:prstGeom prst="roundRect">
            <a:avLst>
              <a:gd name="adj" fmla="val 460985"/>
            </a:avLst>
          </a:prstGeom>
          <a:solidFill>
            <a:srgbClr val="84482D"/>
          </a:solidFill>
          <a:ln/>
        </p:spPr>
      </p:sp>
      <p:sp>
        <p:nvSpPr>
          <p:cNvPr id="8" name="Text 5"/>
          <p:cNvSpPr/>
          <p:nvPr/>
        </p:nvSpPr>
        <p:spPr>
          <a:xfrm>
            <a:off x="6577727" y="3469719"/>
            <a:ext cx="2795111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Inadequate Constraints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6577727" y="3898940"/>
            <a:ext cx="7258883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Limited support for real-world constraints such as labs, electives, and specialized requirements.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6280190" y="5036284"/>
            <a:ext cx="99179" cy="99179"/>
          </a:xfrm>
          <a:prstGeom prst="roundRect">
            <a:avLst>
              <a:gd name="adj" fmla="val 460985"/>
            </a:avLst>
          </a:prstGeom>
          <a:solidFill>
            <a:srgbClr val="84482D"/>
          </a:solidFill>
          <a:ln/>
        </p:spPr>
      </p:sp>
      <p:sp>
        <p:nvSpPr>
          <p:cNvPr id="11" name="Text 8"/>
          <p:cNvSpPr/>
          <p:nvPr/>
        </p:nvSpPr>
        <p:spPr>
          <a:xfrm>
            <a:off x="6577727" y="493085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No Synchronization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6577727" y="5360075"/>
            <a:ext cx="7258883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Absence of intelligent synchronization mechanisms across multiple classes and departments.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6280190" y="6497419"/>
            <a:ext cx="99179" cy="99179"/>
          </a:xfrm>
          <a:prstGeom prst="roundRect">
            <a:avLst>
              <a:gd name="adj" fmla="val 460985"/>
            </a:avLst>
          </a:prstGeom>
          <a:solidFill>
            <a:srgbClr val="84482D"/>
          </a:solidFill>
          <a:ln/>
        </p:spPr>
      </p:sp>
      <p:sp>
        <p:nvSpPr>
          <p:cNvPr id="14" name="Text 11"/>
          <p:cNvSpPr/>
          <p:nvPr/>
        </p:nvSpPr>
        <p:spPr>
          <a:xfrm>
            <a:off x="6577727" y="6391989"/>
            <a:ext cx="3345656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Missing AI Decision-Making</a:t>
            </a:r>
            <a:endParaRPr lang="en-US" sz="1950" dirty="0"/>
          </a:p>
        </p:txBody>
      </p:sp>
      <p:sp>
        <p:nvSpPr>
          <p:cNvPr id="15" name="Text 12"/>
          <p:cNvSpPr/>
          <p:nvPr/>
        </p:nvSpPr>
        <p:spPr>
          <a:xfrm>
            <a:off x="6577727" y="6821210"/>
            <a:ext cx="725888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Lack of AI-based decision-making capabilities for optimal timetable generation.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6160" y="503992"/>
            <a:ext cx="4414123" cy="551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300"/>
              </a:lnSpc>
              <a:buNone/>
            </a:pPr>
            <a:r>
              <a:rPr lang="en-US" sz="34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Methodology</a:t>
            </a:r>
            <a:endParaRPr lang="en-US" sz="3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6160" y="1369695"/>
            <a:ext cx="882729" cy="105929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45933" y="1546146"/>
            <a:ext cx="2207062" cy="2758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User Input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1745933" y="1916192"/>
            <a:ext cx="12178308" cy="2668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Subjects, teachers, time slots, and constraints collected from administrators</a:t>
            </a:r>
            <a:endParaRPr lang="en-US" sz="13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160" y="2428994"/>
            <a:ext cx="882729" cy="105929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745933" y="2605445"/>
            <a:ext cx="2328743" cy="2758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Constraint Processing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1745933" y="2975491"/>
            <a:ext cx="12178308" cy="2668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Constraint-based scheduling approach validates all requirements</a:t>
            </a:r>
            <a:endParaRPr lang="en-US" sz="13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160" y="3488293"/>
            <a:ext cx="882729" cy="105929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745933" y="3664744"/>
            <a:ext cx="2207062" cy="2758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Lab Allocation</a:t>
            </a:r>
            <a:endParaRPr lang="en-US" sz="1700" dirty="0"/>
          </a:p>
        </p:txBody>
      </p:sp>
      <p:sp>
        <p:nvSpPr>
          <p:cNvPr id="11" name="Text 6"/>
          <p:cNvSpPr/>
          <p:nvPr/>
        </p:nvSpPr>
        <p:spPr>
          <a:xfrm>
            <a:off x="1745933" y="4034790"/>
            <a:ext cx="12178308" cy="2668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Lab sessions assigned as continuous time blocks</a:t>
            </a:r>
            <a:endParaRPr lang="en-US" sz="13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160" y="4547592"/>
            <a:ext cx="882729" cy="105929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745933" y="4724043"/>
            <a:ext cx="2639139" cy="2758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Elective Synchronization</a:t>
            </a:r>
            <a:endParaRPr lang="en-US" sz="1700" dirty="0"/>
          </a:p>
        </p:txBody>
      </p:sp>
      <p:sp>
        <p:nvSpPr>
          <p:cNvPr id="14" name="Text 8"/>
          <p:cNvSpPr/>
          <p:nvPr/>
        </p:nvSpPr>
        <p:spPr>
          <a:xfrm>
            <a:off x="1745933" y="5094089"/>
            <a:ext cx="12178308" cy="2668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Elective classes coordinated across multiple classes</a:t>
            </a:r>
            <a:endParaRPr lang="en-US" sz="13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160" y="5606891"/>
            <a:ext cx="882729" cy="1059299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745933" y="5783342"/>
            <a:ext cx="2207062" cy="2758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Genetic Algorithm</a:t>
            </a:r>
            <a:endParaRPr lang="en-US" sz="1700" dirty="0"/>
          </a:p>
        </p:txBody>
      </p:sp>
      <p:sp>
        <p:nvSpPr>
          <p:cNvPr id="17" name="Text 10"/>
          <p:cNvSpPr/>
          <p:nvPr/>
        </p:nvSpPr>
        <p:spPr>
          <a:xfrm>
            <a:off x="1745933" y="6153388"/>
            <a:ext cx="12178308" cy="2668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Optimization using genetic algorithm techniques</a:t>
            </a:r>
            <a:endParaRPr lang="en-US" sz="135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6160" y="6666190"/>
            <a:ext cx="882729" cy="1059299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745933" y="6842641"/>
            <a:ext cx="2207062" cy="2758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Timetable Output</a:t>
            </a:r>
            <a:endParaRPr lang="en-US" sz="1700" dirty="0"/>
          </a:p>
        </p:txBody>
      </p:sp>
      <p:sp>
        <p:nvSpPr>
          <p:cNvPr id="20" name="Text 12"/>
          <p:cNvSpPr/>
          <p:nvPr/>
        </p:nvSpPr>
        <p:spPr>
          <a:xfrm>
            <a:off x="1745933" y="7212687"/>
            <a:ext cx="12178308" cy="2668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Conflict-free optimized timetable generated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93583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System Architecture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3010495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BDA189"/>
                </a:solidFill>
                <a:latin typeface="Prata Light" pitchFamily="34" charset="0"/>
                <a:ea typeface="Prata Light" pitchFamily="34" charset="-122"/>
                <a:cs typeface="Prata Light" pitchFamily="34" charset="-120"/>
              </a:rPr>
              <a:t>01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93790" y="3324820"/>
            <a:ext cx="4215289" cy="22860"/>
          </a:xfrm>
          <a:prstGeom prst="rect">
            <a:avLst/>
          </a:prstGeom>
          <a:solidFill>
            <a:srgbClr val="84482D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346971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User Input Module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793790" y="3898940"/>
            <a:ext cx="4215289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Interface for entering subjects, teachers, time slots, and constraints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5207437" y="3010495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BDA189"/>
                </a:solidFill>
                <a:latin typeface="Prata Light" pitchFamily="34" charset="0"/>
                <a:ea typeface="Prata Light" pitchFamily="34" charset="-122"/>
                <a:cs typeface="Prata Light" pitchFamily="34" charset="-120"/>
              </a:rPr>
              <a:t>02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207437" y="3324820"/>
            <a:ext cx="4215408" cy="22860"/>
          </a:xfrm>
          <a:prstGeom prst="rect">
            <a:avLst/>
          </a:prstGeom>
          <a:solidFill>
            <a:srgbClr val="84482D"/>
          </a:solidFill>
          <a:ln/>
        </p:spPr>
      </p:sp>
      <p:sp>
        <p:nvSpPr>
          <p:cNvPr id="9" name="Text 7"/>
          <p:cNvSpPr/>
          <p:nvPr/>
        </p:nvSpPr>
        <p:spPr>
          <a:xfrm>
            <a:off x="5207437" y="346971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Processing Engine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5207437" y="3898940"/>
            <a:ext cx="4215408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Central system coordinating data flow and scheduling logic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9621203" y="3010495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BDA189"/>
                </a:solidFill>
                <a:latin typeface="Prata Light" pitchFamily="34" charset="0"/>
                <a:ea typeface="Prata Light" pitchFamily="34" charset="-122"/>
                <a:cs typeface="Prata Light" pitchFamily="34" charset="-120"/>
              </a:rPr>
              <a:t>03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9621203" y="3324820"/>
            <a:ext cx="4215289" cy="22860"/>
          </a:xfrm>
          <a:prstGeom prst="rect">
            <a:avLst/>
          </a:prstGeom>
          <a:solidFill>
            <a:srgbClr val="84482D"/>
          </a:solidFill>
          <a:ln/>
        </p:spPr>
      </p:sp>
      <p:sp>
        <p:nvSpPr>
          <p:cNvPr id="13" name="Text 11"/>
          <p:cNvSpPr/>
          <p:nvPr/>
        </p:nvSpPr>
        <p:spPr>
          <a:xfrm>
            <a:off x="9621203" y="346971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Constraint Module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9621203" y="3898940"/>
            <a:ext cx="4215289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Validates all scheduling constraints and identifies conflicts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793790" y="4881205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BDA189"/>
                </a:solidFill>
                <a:latin typeface="Prata Light" pitchFamily="34" charset="0"/>
                <a:ea typeface="Prata Light" pitchFamily="34" charset="-122"/>
                <a:cs typeface="Prata Light" pitchFamily="34" charset="-120"/>
              </a:rPr>
              <a:t>04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793790" y="5195530"/>
            <a:ext cx="6422112" cy="22860"/>
          </a:xfrm>
          <a:prstGeom prst="rect">
            <a:avLst/>
          </a:prstGeom>
          <a:solidFill>
            <a:srgbClr val="84482D"/>
          </a:solidFill>
          <a:ln/>
        </p:spPr>
      </p:sp>
      <p:sp>
        <p:nvSpPr>
          <p:cNvPr id="17" name="Text 15"/>
          <p:cNvSpPr/>
          <p:nvPr/>
        </p:nvSpPr>
        <p:spPr>
          <a:xfrm>
            <a:off x="793790" y="534042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Genetic Algorithm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793790" y="5769650"/>
            <a:ext cx="642211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Optimization engine applying AI techniques for best solution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7414260" y="4881205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BDA189"/>
                </a:solidFill>
                <a:latin typeface="Prata Light" pitchFamily="34" charset="0"/>
                <a:ea typeface="Prata Light" pitchFamily="34" charset="-122"/>
                <a:cs typeface="Prata Light" pitchFamily="34" charset="-120"/>
              </a:rPr>
              <a:t>05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7414260" y="5195530"/>
            <a:ext cx="6422231" cy="22860"/>
          </a:xfrm>
          <a:prstGeom prst="rect">
            <a:avLst/>
          </a:prstGeom>
          <a:solidFill>
            <a:srgbClr val="84482D"/>
          </a:solidFill>
          <a:ln/>
        </p:spPr>
      </p:sp>
      <p:sp>
        <p:nvSpPr>
          <p:cNvPr id="21" name="Text 19"/>
          <p:cNvSpPr/>
          <p:nvPr/>
        </p:nvSpPr>
        <p:spPr>
          <a:xfrm>
            <a:off x="7414260" y="534042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Timetable Output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7414260" y="5769650"/>
            <a:ext cx="642223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Final optimized timetable presented to users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722007"/>
            <a:ext cx="5058608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Tools &amp; Technologies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6280190" y="383809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Frontend Stack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6280190" y="4346615"/>
            <a:ext cx="3536156" cy="109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HTML for structure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CSS for styling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JavaScript for interactivity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10308074" y="383809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AI &amp; Logic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10308074" y="4346615"/>
            <a:ext cx="3536156" cy="109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Genetic Algorithm for optimization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Constraint Satisfaction Logic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Browser-based implementation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4493" y="667107"/>
            <a:ext cx="4429125" cy="550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300"/>
              </a:lnSpc>
              <a:buNone/>
            </a:pPr>
            <a:r>
              <a:rPr lang="en-US" sz="34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Results &amp; Discussion</a:t>
            </a:r>
            <a:endParaRPr lang="en-US" sz="3450" dirty="0"/>
          </a:p>
        </p:txBody>
      </p:sp>
      <p:sp>
        <p:nvSpPr>
          <p:cNvPr id="3" name="Shape 1"/>
          <p:cNvSpPr/>
          <p:nvPr/>
        </p:nvSpPr>
        <p:spPr>
          <a:xfrm>
            <a:off x="704493" y="1529953"/>
            <a:ext cx="6532602" cy="1671399"/>
          </a:xfrm>
          <a:prstGeom prst="roundRect">
            <a:avLst>
              <a:gd name="adj" fmla="val 1581"/>
            </a:avLst>
          </a:prstGeom>
          <a:solidFill>
            <a:srgbClr val="404245"/>
          </a:solidFill>
          <a:ln/>
        </p:spPr>
      </p:sp>
      <p:sp>
        <p:nvSpPr>
          <p:cNvPr id="4" name="Shape 2"/>
          <p:cNvSpPr/>
          <p:nvPr/>
        </p:nvSpPr>
        <p:spPr>
          <a:xfrm>
            <a:off x="880586" y="1706047"/>
            <a:ext cx="528280" cy="528280"/>
          </a:xfrm>
          <a:prstGeom prst="roundRect">
            <a:avLst>
              <a:gd name="adj" fmla="val 17307272"/>
            </a:avLst>
          </a:prstGeom>
          <a:solidFill>
            <a:srgbClr val="84482D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5843" y="1851184"/>
            <a:ext cx="237768" cy="2377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80586" y="2390537"/>
            <a:ext cx="2634020" cy="275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Conflict-Free Timetables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80586" y="2759393"/>
            <a:ext cx="6180415" cy="2658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Successfully generated timetables without scheduling conflicts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7393305" y="1529953"/>
            <a:ext cx="6532602" cy="1671399"/>
          </a:xfrm>
          <a:prstGeom prst="roundRect">
            <a:avLst>
              <a:gd name="adj" fmla="val 1581"/>
            </a:avLst>
          </a:prstGeom>
          <a:solidFill>
            <a:srgbClr val="404245"/>
          </a:solidFill>
          <a:ln/>
        </p:spPr>
      </p:sp>
      <p:sp>
        <p:nvSpPr>
          <p:cNvPr id="9" name="Shape 6"/>
          <p:cNvSpPr/>
          <p:nvPr/>
        </p:nvSpPr>
        <p:spPr>
          <a:xfrm>
            <a:off x="7569398" y="1706047"/>
            <a:ext cx="528280" cy="528280"/>
          </a:xfrm>
          <a:prstGeom prst="roundRect">
            <a:avLst>
              <a:gd name="adj" fmla="val 17307272"/>
            </a:avLst>
          </a:prstGeom>
          <a:solidFill>
            <a:srgbClr val="84482D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14655" y="1851184"/>
            <a:ext cx="237768" cy="2377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569398" y="2390537"/>
            <a:ext cx="2669619" cy="275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Continuous Lab Sessions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7569398" y="2759393"/>
            <a:ext cx="6180415" cy="2658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Lab sessions properly allocated as continuous time blocks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704493" y="3357563"/>
            <a:ext cx="6532602" cy="1671399"/>
          </a:xfrm>
          <a:prstGeom prst="roundRect">
            <a:avLst>
              <a:gd name="adj" fmla="val 1581"/>
            </a:avLst>
          </a:prstGeom>
          <a:solidFill>
            <a:srgbClr val="404245"/>
          </a:solidFill>
          <a:ln/>
        </p:spPr>
      </p:sp>
      <p:sp>
        <p:nvSpPr>
          <p:cNvPr id="14" name="Shape 10"/>
          <p:cNvSpPr/>
          <p:nvPr/>
        </p:nvSpPr>
        <p:spPr>
          <a:xfrm>
            <a:off x="880586" y="3533656"/>
            <a:ext cx="528280" cy="528280"/>
          </a:xfrm>
          <a:prstGeom prst="roundRect">
            <a:avLst>
              <a:gd name="adj" fmla="val 17307272"/>
            </a:avLst>
          </a:prstGeom>
          <a:solidFill>
            <a:srgbClr val="84482D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25843" y="3678793"/>
            <a:ext cx="237768" cy="23776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80586" y="4218146"/>
            <a:ext cx="2631996" cy="275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Elective Synchronization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880586" y="4587002"/>
            <a:ext cx="6180415" cy="2658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Electives synchronized across multiple classes achieved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7393305" y="3357563"/>
            <a:ext cx="6532602" cy="1671399"/>
          </a:xfrm>
          <a:prstGeom prst="roundRect">
            <a:avLst>
              <a:gd name="adj" fmla="val 1581"/>
            </a:avLst>
          </a:prstGeom>
          <a:solidFill>
            <a:srgbClr val="404245"/>
          </a:solidFill>
          <a:ln/>
        </p:spPr>
      </p:sp>
      <p:sp>
        <p:nvSpPr>
          <p:cNvPr id="19" name="Shape 14"/>
          <p:cNvSpPr/>
          <p:nvPr/>
        </p:nvSpPr>
        <p:spPr>
          <a:xfrm>
            <a:off x="7569398" y="3533656"/>
            <a:ext cx="528280" cy="528280"/>
          </a:xfrm>
          <a:prstGeom prst="roundRect">
            <a:avLst>
              <a:gd name="adj" fmla="val 17307272"/>
            </a:avLst>
          </a:prstGeom>
          <a:solidFill>
            <a:srgbClr val="84482D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14655" y="3678793"/>
            <a:ext cx="237768" cy="23776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569398" y="4218146"/>
            <a:ext cx="2201585" cy="275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Improved Efficiency</a:t>
            </a:r>
            <a:endParaRPr lang="en-US" sz="1700" dirty="0"/>
          </a:p>
        </p:txBody>
      </p:sp>
      <p:sp>
        <p:nvSpPr>
          <p:cNvPr id="22" name="Text 16"/>
          <p:cNvSpPr/>
          <p:nvPr/>
        </p:nvSpPr>
        <p:spPr>
          <a:xfrm>
            <a:off x="7569398" y="4587002"/>
            <a:ext cx="6180415" cy="2658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Enhanced efficiency over manual timetable system</a:t>
            </a:r>
            <a:endParaRPr lang="en-US" sz="1350" dirty="0"/>
          </a:p>
        </p:txBody>
      </p:sp>
      <p:sp>
        <p:nvSpPr>
          <p:cNvPr id="23" name="Shape 17"/>
          <p:cNvSpPr/>
          <p:nvPr/>
        </p:nvSpPr>
        <p:spPr>
          <a:xfrm>
            <a:off x="704493" y="5204698"/>
            <a:ext cx="13221414" cy="2357795"/>
          </a:xfrm>
          <a:prstGeom prst="roundRect">
            <a:avLst>
              <a:gd name="adj" fmla="val 1121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712113" y="5212318"/>
            <a:ext cx="13206174" cy="46851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5" name="Text 19"/>
          <p:cNvSpPr/>
          <p:nvPr/>
        </p:nvSpPr>
        <p:spPr>
          <a:xfrm>
            <a:off x="888444" y="5313640"/>
            <a:ext cx="2945487" cy="2658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350" b="1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Metric</a:t>
            </a:r>
            <a:endParaRPr lang="en-US" sz="1350" dirty="0"/>
          </a:p>
        </p:txBody>
      </p:sp>
      <p:sp>
        <p:nvSpPr>
          <p:cNvPr id="26" name="Text 20"/>
          <p:cNvSpPr/>
          <p:nvPr/>
        </p:nvSpPr>
        <p:spPr>
          <a:xfrm>
            <a:off x="4193738" y="5313640"/>
            <a:ext cx="2941677" cy="2658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350" b="1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Manual System</a:t>
            </a:r>
            <a:endParaRPr lang="en-US" sz="1350" dirty="0"/>
          </a:p>
        </p:txBody>
      </p:sp>
      <p:sp>
        <p:nvSpPr>
          <p:cNvPr id="27" name="Text 21"/>
          <p:cNvSpPr/>
          <p:nvPr/>
        </p:nvSpPr>
        <p:spPr>
          <a:xfrm>
            <a:off x="7495223" y="5313640"/>
            <a:ext cx="2941677" cy="2658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350" b="1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Basic Automated</a:t>
            </a:r>
            <a:endParaRPr lang="en-US" sz="1350" dirty="0"/>
          </a:p>
        </p:txBody>
      </p:sp>
      <p:sp>
        <p:nvSpPr>
          <p:cNvPr id="28" name="Text 22"/>
          <p:cNvSpPr/>
          <p:nvPr/>
        </p:nvSpPr>
        <p:spPr>
          <a:xfrm>
            <a:off x="10796707" y="5313640"/>
            <a:ext cx="2945487" cy="2658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350" b="1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AI-Based Smart System</a:t>
            </a:r>
            <a:endParaRPr lang="en-US" sz="1350" dirty="0"/>
          </a:p>
        </p:txBody>
      </p:sp>
      <p:sp>
        <p:nvSpPr>
          <p:cNvPr id="29" name="Shape 23"/>
          <p:cNvSpPr/>
          <p:nvPr/>
        </p:nvSpPr>
        <p:spPr>
          <a:xfrm>
            <a:off x="712113" y="5680829"/>
            <a:ext cx="13206174" cy="46851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0" name="Text 24"/>
          <p:cNvSpPr/>
          <p:nvPr/>
        </p:nvSpPr>
        <p:spPr>
          <a:xfrm>
            <a:off x="888444" y="5782151"/>
            <a:ext cx="2945487" cy="2658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3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Time Required</a:t>
            </a:r>
            <a:endParaRPr lang="en-US" sz="1350" dirty="0"/>
          </a:p>
        </p:txBody>
      </p:sp>
      <p:sp>
        <p:nvSpPr>
          <p:cNvPr id="31" name="Text 25"/>
          <p:cNvSpPr/>
          <p:nvPr/>
        </p:nvSpPr>
        <p:spPr>
          <a:xfrm>
            <a:off x="4193738" y="5782151"/>
            <a:ext cx="2941677" cy="2658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3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High</a:t>
            </a:r>
            <a:endParaRPr lang="en-US" sz="1350" dirty="0"/>
          </a:p>
        </p:txBody>
      </p:sp>
      <p:sp>
        <p:nvSpPr>
          <p:cNvPr id="32" name="Text 26"/>
          <p:cNvSpPr/>
          <p:nvPr/>
        </p:nvSpPr>
        <p:spPr>
          <a:xfrm>
            <a:off x="7495223" y="5782151"/>
            <a:ext cx="2941677" cy="2658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3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Medium</a:t>
            </a:r>
            <a:endParaRPr lang="en-US" sz="1350" dirty="0"/>
          </a:p>
        </p:txBody>
      </p:sp>
      <p:sp>
        <p:nvSpPr>
          <p:cNvPr id="33" name="Text 27"/>
          <p:cNvSpPr/>
          <p:nvPr/>
        </p:nvSpPr>
        <p:spPr>
          <a:xfrm>
            <a:off x="10796707" y="5782151"/>
            <a:ext cx="2945487" cy="2658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3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Low</a:t>
            </a:r>
            <a:endParaRPr lang="en-US" sz="1350" dirty="0"/>
          </a:p>
        </p:txBody>
      </p:sp>
      <p:sp>
        <p:nvSpPr>
          <p:cNvPr id="34" name="Shape 28"/>
          <p:cNvSpPr/>
          <p:nvPr/>
        </p:nvSpPr>
        <p:spPr>
          <a:xfrm>
            <a:off x="712113" y="6149340"/>
            <a:ext cx="13206174" cy="46851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5" name="Text 29"/>
          <p:cNvSpPr/>
          <p:nvPr/>
        </p:nvSpPr>
        <p:spPr>
          <a:xfrm>
            <a:off x="888444" y="6250662"/>
            <a:ext cx="2945487" cy="2658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3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Conflict Rate</a:t>
            </a:r>
            <a:endParaRPr lang="en-US" sz="1350" dirty="0"/>
          </a:p>
        </p:txBody>
      </p:sp>
      <p:sp>
        <p:nvSpPr>
          <p:cNvPr id="36" name="Text 30"/>
          <p:cNvSpPr/>
          <p:nvPr/>
        </p:nvSpPr>
        <p:spPr>
          <a:xfrm>
            <a:off x="4193738" y="6250662"/>
            <a:ext cx="2941677" cy="2658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3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High</a:t>
            </a:r>
            <a:endParaRPr lang="en-US" sz="1350" dirty="0"/>
          </a:p>
        </p:txBody>
      </p:sp>
      <p:sp>
        <p:nvSpPr>
          <p:cNvPr id="37" name="Text 31"/>
          <p:cNvSpPr/>
          <p:nvPr/>
        </p:nvSpPr>
        <p:spPr>
          <a:xfrm>
            <a:off x="7495223" y="6250662"/>
            <a:ext cx="2941677" cy="2658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3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Medium</a:t>
            </a:r>
            <a:endParaRPr lang="en-US" sz="1350" dirty="0"/>
          </a:p>
        </p:txBody>
      </p:sp>
      <p:sp>
        <p:nvSpPr>
          <p:cNvPr id="38" name="Text 32"/>
          <p:cNvSpPr/>
          <p:nvPr/>
        </p:nvSpPr>
        <p:spPr>
          <a:xfrm>
            <a:off x="10796707" y="6250662"/>
            <a:ext cx="2945487" cy="2658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3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Very Low</a:t>
            </a:r>
            <a:endParaRPr lang="en-US" sz="1350" dirty="0"/>
          </a:p>
        </p:txBody>
      </p:sp>
      <p:sp>
        <p:nvSpPr>
          <p:cNvPr id="39" name="Shape 33"/>
          <p:cNvSpPr/>
          <p:nvPr/>
        </p:nvSpPr>
        <p:spPr>
          <a:xfrm>
            <a:off x="712113" y="6617851"/>
            <a:ext cx="13206174" cy="46851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40" name="Text 34"/>
          <p:cNvSpPr/>
          <p:nvPr/>
        </p:nvSpPr>
        <p:spPr>
          <a:xfrm>
            <a:off x="888444" y="6719173"/>
            <a:ext cx="2945487" cy="2658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3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Resource Utilization</a:t>
            </a:r>
            <a:endParaRPr lang="en-US" sz="1350" dirty="0"/>
          </a:p>
        </p:txBody>
      </p:sp>
      <p:sp>
        <p:nvSpPr>
          <p:cNvPr id="41" name="Text 35"/>
          <p:cNvSpPr/>
          <p:nvPr/>
        </p:nvSpPr>
        <p:spPr>
          <a:xfrm>
            <a:off x="4193738" y="6719173"/>
            <a:ext cx="2941677" cy="2658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3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Low</a:t>
            </a:r>
            <a:endParaRPr lang="en-US" sz="1350" dirty="0"/>
          </a:p>
        </p:txBody>
      </p:sp>
      <p:sp>
        <p:nvSpPr>
          <p:cNvPr id="42" name="Text 36"/>
          <p:cNvSpPr/>
          <p:nvPr/>
        </p:nvSpPr>
        <p:spPr>
          <a:xfrm>
            <a:off x="7495223" y="6719173"/>
            <a:ext cx="2941677" cy="2658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3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Medium</a:t>
            </a:r>
            <a:endParaRPr lang="en-US" sz="1350" dirty="0"/>
          </a:p>
        </p:txBody>
      </p:sp>
      <p:sp>
        <p:nvSpPr>
          <p:cNvPr id="43" name="Text 37"/>
          <p:cNvSpPr/>
          <p:nvPr/>
        </p:nvSpPr>
        <p:spPr>
          <a:xfrm>
            <a:off x="10796707" y="6719173"/>
            <a:ext cx="2945487" cy="2658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3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High</a:t>
            </a:r>
            <a:endParaRPr lang="en-US" sz="1350" dirty="0"/>
          </a:p>
        </p:txBody>
      </p:sp>
      <p:sp>
        <p:nvSpPr>
          <p:cNvPr id="44" name="Shape 38"/>
          <p:cNvSpPr/>
          <p:nvPr/>
        </p:nvSpPr>
        <p:spPr>
          <a:xfrm>
            <a:off x="712113" y="7086362"/>
            <a:ext cx="13206174" cy="46851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45" name="Text 39"/>
          <p:cNvSpPr/>
          <p:nvPr/>
        </p:nvSpPr>
        <p:spPr>
          <a:xfrm>
            <a:off x="888444" y="7187684"/>
            <a:ext cx="2945487" cy="2658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3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Flexibility</a:t>
            </a:r>
            <a:endParaRPr lang="en-US" sz="1350" dirty="0"/>
          </a:p>
        </p:txBody>
      </p:sp>
      <p:sp>
        <p:nvSpPr>
          <p:cNvPr id="46" name="Text 40"/>
          <p:cNvSpPr/>
          <p:nvPr/>
        </p:nvSpPr>
        <p:spPr>
          <a:xfrm>
            <a:off x="4193738" y="7187684"/>
            <a:ext cx="2941677" cy="2658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3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Low</a:t>
            </a:r>
            <a:endParaRPr lang="en-US" sz="1350" dirty="0"/>
          </a:p>
        </p:txBody>
      </p:sp>
      <p:sp>
        <p:nvSpPr>
          <p:cNvPr id="47" name="Text 41"/>
          <p:cNvSpPr/>
          <p:nvPr/>
        </p:nvSpPr>
        <p:spPr>
          <a:xfrm>
            <a:off x="7495223" y="7187684"/>
            <a:ext cx="2941677" cy="2658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3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Medium</a:t>
            </a:r>
            <a:endParaRPr lang="en-US" sz="1350" dirty="0"/>
          </a:p>
        </p:txBody>
      </p:sp>
      <p:sp>
        <p:nvSpPr>
          <p:cNvPr id="48" name="Text 42"/>
          <p:cNvSpPr/>
          <p:nvPr/>
        </p:nvSpPr>
        <p:spPr>
          <a:xfrm>
            <a:off x="10796707" y="7187684"/>
            <a:ext cx="2945487" cy="2658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3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High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4384" y="539234"/>
            <a:ext cx="6508194" cy="612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38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Conclusion &amp; Future Scope</a:t>
            </a:r>
            <a:endParaRPr lang="en-US" sz="3850" dirty="0"/>
          </a:p>
        </p:txBody>
      </p:sp>
      <p:sp>
        <p:nvSpPr>
          <p:cNvPr id="3" name="Text 1"/>
          <p:cNvSpPr/>
          <p:nvPr/>
        </p:nvSpPr>
        <p:spPr>
          <a:xfrm>
            <a:off x="784384" y="1636395"/>
            <a:ext cx="2451259" cy="306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Conclusion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784384" y="2136458"/>
            <a:ext cx="7645598" cy="623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AI-based timetable generator successfully reduces manual effort and errors while improving scheduling efficiency through intelligent optimization.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84384" y="2953822"/>
            <a:ext cx="2635329" cy="306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Future Enhancements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84384" y="3453884"/>
            <a:ext cx="7645598" cy="1450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450"/>
              </a:lnSpc>
              <a:buSzPct val="100000"/>
              <a:buChar char="•"/>
            </a:pP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Teacher availability constraints</a:t>
            </a:r>
            <a:endParaRPr lang="en-US" sz="1500" dirty="0"/>
          </a:p>
          <a:p>
            <a:pPr algn="l" marL="342900" indent="-342900">
              <a:lnSpc>
                <a:spcPts val="2450"/>
              </a:lnSpc>
              <a:buSzPct val="100000"/>
              <a:buChar char="•"/>
            </a:pP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Classroom and room allocation</a:t>
            </a:r>
            <a:endParaRPr lang="en-US" sz="1500" dirty="0"/>
          </a:p>
          <a:p>
            <a:pPr algn="l" marL="342900" indent="-342900">
              <a:lnSpc>
                <a:spcPts val="2450"/>
              </a:lnSpc>
              <a:buSzPct val="100000"/>
              <a:buChar char="•"/>
            </a:pP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Mobile and web deployment</a:t>
            </a:r>
            <a:endParaRPr lang="en-US" sz="1500" dirty="0"/>
          </a:p>
          <a:p>
            <a:pPr algn="l" marL="342900" indent="-342900">
              <a:lnSpc>
                <a:spcPts val="2450"/>
              </a:lnSpc>
              <a:buSzPct val="100000"/>
              <a:buChar char="•"/>
            </a:pP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Advanced AI optimization techniques</a:t>
            </a:r>
            <a:endParaRPr lang="en-US" sz="15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995" y="1660565"/>
            <a:ext cx="4937522" cy="493752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84384" y="7131816"/>
            <a:ext cx="13061633" cy="32028"/>
          </a:xfrm>
          <a:prstGeom prst="rect">
            <a:avLst/>
          </a:prstGeom>
          <a:solidFill>
            <a:srgbClr val="BDA189">
              <a:alpha val="5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784384" y="7381637"/>
            <a:ext cx="13061633" cy="311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00" b="1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Thank you for your attention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2026-03-19T08:26:20Z</dcterms:created>
  <dcterms:modified xsi:type="dcterms:W3CDTF">2026-03-19T08:26:20Z</dcterms:modified>
</cp:coreProperties>
</file>