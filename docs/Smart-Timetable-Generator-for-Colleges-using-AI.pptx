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rimson Pro Semi Bold" panose="020B0604020202020204" charset="0"/>
      <p:regular r:id="rId13"/>
    </p:embeddedFont>
    <p:embeddedFont>
      <p:font typeface="Heebo" pitchFamily="2" charset="-79"/>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44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6969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266474"/>
            <a:ext cx="11312485" cy="708779"/>
          </a:xfrm>
          <a:prstGeom prst="rect">
            <a:avLst/>
          </a:prstGeom>
          <a:noFill/>
          <a:ln/>
        </p:spPr>
        <p:txBody>
          <a:bodyPr wrap="none" lIns="0" tIns="0" rIns="0" bIns="0" rtlCol="0" anchor="t"/>
          <a:lstStyle/>
          <a:p>
            <a:pPr marL="0" indent="0" algn="l">
              <a:lnSpc>
                <a:spcPts val="5550"/>
              </a:lnSpc>
              <a:buNone/>
            </a:pPr>
            <a:r>
              <a:rPr lang="en-US" sz="4450" dirty="0">
                <a:solidFill>
                  <a:srgbClr val="152D47"/>
                </a:solidFill>
                <a:latin typeface="Crimson Pro Semi Bold" pitchFamily="34" charset="0"/>
                <a:ea typeface="Crimson Pro Semi Bold" pitchFamily="34" charset="-122"/>
                <a:cs typeface="Crimson Pro Semi Bold" pitchFamily="34" charset="-120"/>
              </a:rPr>
              <a:t>Smart Timetable Generator for Colleges using AI</a:t>
            </a:r>
            <a:endParaRPr lang="en-US" sz="4450" dirty="0"/>
          </a:p>
        </p:txBody>
      </p:sp>
      <p:sp>
        <p:nvSpPr>
          <p:cNvPr id="3" name="Text 1"/>
          <p:cNvSpPr/>
          <p:nvPr/>
        </p:nvSpPr>
        <p:spPr>
          <a:xfrm>
            <a:off x="793790" y="3428881"/>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AI-Based Academic Scheduling System</a:t>
            </a:r>
            <a:endParaRPr lang="en-US" sz="1750" dirty="0"/>
          </a:p>
        </p:txBody>
      </p:sp>
      <p:sp>
        <p:nvSpPr>
          <p:cNvPr id="4" name="Shape 2"/>
          <p:cNvSpPr/>
          <p:nvPr/>
        </p:nvSpPr>
        <p:spPr>
          <a:xfrm>
            <a:off x="793790" y="4054554"/>
            <a:ext cx="3631763" cy="426244"/>
          </a:xfrm>
          <a:prstGeom prst="roundRect">
            <a:avLst>
              <a:gd name="adj" fmla="val 6386"/>
            </a:avLst>
          </a:prstGeom>
          <a:solidFill>
            <a:srgbClr val="CCD7FF"/>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9878" y="4176951"/>
            <a:ext cx="181451" cy="181451"/>
          </a:xfrm>
          <a:prstGeom prst="rect">
            <a:avLst/>
          </a:prstGeom>
        </p:spPr>
      </p:pic>
      <p:sp>
        <p:nvSpPr>
          <p:cNvPr id="6" name="Text 3"/>
          <p:cNvSpPr/>
          <p:nvPr/>
        </p:nvSpPr>
        <p:spPr>
          <a:xfrm>
            <a:off x="1202055" y="4122539"/>
            <a:ext cx="3087410" cy="290274"/>
          </a:xfrm>
          <a:prstGeom prst="rect">
            <a:avLst/>
          </a:prstGeom>
          <a:noFill/>
          <a:ln/>
        </p:spPr>
        <p:txBody>
          <a:bodyPr wrap="none" lIns="0" tIns="0" rIns="0" bIns="0" rtlCol="0" anchor="t"/>
          <a:lstStyle/>
          <a:p>
            <a:pPr marL="0" indent="0" algn="l">
              <a:lnSpc>
                <a:spcPts val="2250"/>
              </a:lnSpc>
              <a:buNone/>
            </a:pPr>
            <a:r>
              <a:rPr lang="en-US" sz="1400" dirty="0">
                <a:solidFill>
                  <a:srgbClr val="4C4C4D"/>
                </a:solidFill>
                <a:latin typeface="Heebo" pitchFamily="34" charset="0"/>
                <a:ea typeface="Heebo" pitchFamily="34" charset="-122"/>
                <a:cs typeface="Heebo" pitchFamily="34" charset="-120"/>
              </a:rPr>
              <a:t>COMPUTER SCIENCE &amp; ENGINEERING</a:t>
            </a:r>
            <a:endParaRPr lang="en-US" sz="1400" dirty="0"/>
          </a:p>
        </p:txBody>
      </p:sp>
      <p:sp>
        <p:nvSpPr>
          <p:cNvPr id="7" name="Shape 4"/>
          <p:cNvSpPr/>
          <p:nvPr/>
        </p:nvSpPr>
        <p:spPr>
          <a:xfrm>
            <a:off x="4538901" y="4046934"/>
            <a:ext cx="3698558" cy="441484"/>
          </a:xfrm>
          <a:prstGeom prst="roundRect">
            <a:avLst>
              <a:gd name="adj" fmla="val 6165"/>
            </a:avLst>
          </a:prstGeom>
          <a:noFill/>
          <a:ln w="7620">
            <a:solidFill>
              <a:srgbClr val="2150FE"/>
            </a:solidFill>
            <a:prstDash val="solid"/>
          </a:ln>
        </p:spPr>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82609" y="4176951"/>
            <a:ext cx="181451" cy="181451"/>
          </a:xfrm>
          <a:prstGeom prst="rect">
            <a:avLst/>
          </a:prstGeom>
        </p:spPr>
      </p:pic>
      <p:sp>
        <p:nvSpPr>
          <p:cNvPr id="9" name="Text 5"/>
          <p:cNvSpPr/>
          <p:nvPr/>
        </p:nvSpPr>
        <p:spPr>
          <a:xfrm>
            <a:off x="4954786" y="4122539"/>
            <a:ext cx="3138964" cy="290274"/>
          </a:xfrm>
          <a:prstGeom prst="rect">
            <a:avLst/>
          </a:prstGeom>
          <a:noFill/>
          <a:ln/>
        </p:spPr>
        <p:txBody>
          <a:bodyPr wrap="none" lIns="0" tIns="0" rIns="0" bIns="0" rtlCol="0" anchor="t"/>
          <a:lstStyle/>
          <a:p>
            <a:pPr marL="0" indent="0" algn="l">
              <a:lnSpc>
                <a:spcPts val="2250"/>
              </a:lnSpc>
              <a:buNone/>
            </a:pPr>
            <a:r>
              <a:rPr lang="en-US" sz="1400" dirty="0">
                <a:solidFill>
                  <a:srgbClr val="2150FE"/>
                </a:solidFill>
                <a:latin typeface="Heebo" pitchFamily="34" charset="0"/>
                <a:ea typeface="Heebo" pitchFamily="34" charset="-122"/>
                <a:cs typeface="Heebo" pitchFamily="34" charset="-120"/>
              </a:rPr>
              <a:t>FACULTY GUIDE: SAINI JACOB SOMAN</a:t>
            </a:r>
            <a:endParaRPr lang="en-US" sz="1400" dirty="0"/>
          </a:p>
        </p:txBody>
      </p:sp>
      <p:pic>
        <p:nvPicPr>
          <p:cNvPr id="10" name="Image 2" descr="preencoded.png"/>
          <p:cNvPicPr>
            <a:picLocks noChangeAspect="1"/>
          </p:cNvPicPr>
          <p:nvPr/>
        </p:nvPicPr>
        <p:blipFill>
          <a:blip r:embed="rId7"/>
          <a:stretch>
            <a:fillRect/>
          </a:stretch>
        </p:blipFill>
        <p:spPr>
          <a:xfrm>
            <a:off x="793790" y="4743569"/>
            <a:ext cx="1973342" cy="1219557"/>
          </a:xfrm>
          <a:prstGeom prst="rect">
            <a:avLst/>
          </a:prstGeom>
        </p:spPr>
      </p:pic>
      <p:sp>
        <p:nvSpPr>
          <p:cNvPr id="11" name="Text 6"/>
          <p:cNvSpPr/>
          <p:nvPr/>
        </p:nvSpPr>
        <p:spPr>
          <a:xfrm>
            <a:off x="3050619" y="474356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Team</a:t>
            </a:r>
            <a:endParaRPr lang="en-US" sz="2200" dirty="0"/>
          </a:p>
        </p:txBody>
      </p:sp>
      <p:sp>
        <p:nvSpPr>
          <p:cNvPr id="12" name="Text 7"/>
          <p:cNvSpPr/>
          <p:nvPr/>
        </p:nvSpPr>
        <p:spPr>
          <a:xfrm>
            <a:off x="3050619" y="5233988"/>
            <a:ext cx="10785991" cy="362903"/>
          </a:xfrm>
          <a:prstGeom prst="rect">
            <a:avLst/>
          </a:prstGeom>
          <a:noFill/>
          <a:ln/>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Muheeb P S · Rahul T R · Ladheed Nousharvan P · Sanju Santhosh · Aadarsh S L</a:t>
            </a:r>
            <a:endParaRPr lang="en-US" sz="1750" dirty="0"/>
          </a:p>
        </p:txBody>
      </p:sp>
      <p:sp>
        <p:nvSpPr>
          <p:cNvPr id="13" name="Rectangle 12">
            <a:extLst>
              <a:ext uri="{FF2B5EF4-FFF2-40B4-BE49-F238E27FC236}">
                <a16:creationId xmlns:a16="http://schemas.microsoft.com/office/drawing/2014/main" id="{526E811A-8CED-D4FA-36B2-CB7B071E0728}"/>
              </a:ext>
            </a:extLst>
          </p:cNvPr>
          <p:cNvSpPr/>
          <p:nvPr/>
        </p:nvSpPr>
        <p:spPr>
          <a:xfrm>
            <a:off x="12614564" y="7543799"/>
            <a:ext cx="1911927" cy="6026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99FD0503-7D85-F7C4-55E3-1C0B8B94ECEB}"/>
              </a:ext>
            </a:extLst>
          </p:cNvPr>
          <p:cNvSpPr/>
          <p:nvPr/>
        </p:nvSpPr>
        <p:spPr>
          <a:xfrm>
            <a:off x="12614563" y="7349836"/>
            <a:ext cx="1911927" cy="685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572464"/>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152D47"/>
                </a:solidFill>
                <a:latin typeface="Crimson Pro Semi Bold" pitchFamily="34" charset="0"/>
                <a:ea typeface="Crimson Pro Semi Bold" pitchFamily="34" charset="-122"/>
                <a:cs typeface="Crimson Pro Semi Bold" pitchFamily="34" charset="-120"/>
              </a:rPr>
              <a:t>Abstract</a:t>
            </a:r>
            <a:endParaRPr lang="en-US" sz="3550" dirty="0"/>
          </a:p>
        </p:txBody>
      </p:sp>
      <p:sp>
        <p:nvSpPr>
          <p:cNvPr id="4" name="Text 1"/>
          <p:cNvSpPr/>
          <p:nvPr/>
        </p:nvSpPr>
        <p:spPr>
          <a:xfrm>
            <a:off x="6280190" y="3479602"/>
            <a:ext cx="7556421" cy="2177415"/>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We present an automated timetable generation system that produces conflict-free academic schedules by encoding constraints such as faculty availability, classroom and lab capacity, and course requirements. The system reduces manual effort and scheduling errors, speeds up iteration, and lays groundwork for a future AI optimization module to adapt schedules dynamically to real-world changes.</a:t>
            </a:r>
            <a:endParaRPr lang="en-US" sz="1750" dirty="0"/>
          </a:p>
        </p:txBody>
      </p:sp>
      <p:sp>
        <p:nvSpPr>
          <p:cNvPr id="5" name="Rectangle 4">
            <a:extLst>
              <a:ext uri="{FF2B5EF4-FFF2-40B4-BE49-F238E27FC236}">
                <a16:creationId xmlns:a16="http://schemas.microsoft.com/office/drawing/2014/main" id="{028D877B-1EC8-5745-0E99-7F3544A5C4D9}"/>
              </a:ext>
            </a:extLst>
          </p:cNvPr>
          <p:cNvSpPr/>
          <p:nvPr/>
        </p:nvSpPr>
        <p:spPr>
          <a:xfrm>
            <a:off x="12614564" y="7543800"/>
            <a:ext cx="1911927" cy="685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350175"/>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152D47"/>
                </a:solidFill>
                <a:latin typeface="Crimson Pro Semi Bold" pitchFamily="34" charset="0"/>
                <a:ea typeface="Crimson Pro Semi Bold" pitchFamily="34" charset="-122"/>
                <a:cs typeface="Crimson Pro Semi Bold" pitchFamily="34" charset="-120"/>
              </a:rPr>
              <a:t>Problem Statement</a:t>
            </a:r>
            <a:endParaRPr lang="en-US" sz="3550" dirty="0"/>
          </a:p>
        </p:txBody>
      </p:sp>
      <p:sp>
        <p:nvSpPr>
          <p:cNvPr id="4" name="Shape 1"/>
          <p:cNvSpPr/>
          <p:nvPr/>
        </p:nvSpPr>
        <p:spPr>
          <a:xfrm>
            <a:off x="793790" y="3377803"/>
            <a:ext cx="113348" cy="113348"/>
          </a:xfrm>
          <a:prstGeom prst="roundRect">
            <a:avLst>
              <a:gd name="adj" fmla="val 403360"/>
            </a:avLst>
          </a:prstGeom>
          <a:solidFill>
            <a:srgbClr val="2150FE"/>
          </a:solidFill>
          <a:ln/>
        </p:spPr>
      </p:sp>
      <p:sp>
        <p:nvSpPr>
          <p:cNvPr id="5" name="Text 2"/>
          <p:cNvSpPr/>
          <p:nvPr/>
        </p:nvSpPr>
        <p:spPr>
          <a:xfrm>
            <a:off x="1133951" y="325731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Current Challenges</a:t>
            </a:r>
            <a:endParaRPr lang="en-US" sz="2200" dirty="0"/>
          </a:p>
        </p:txBody>
      </p:sp>
      <p:sp>
        <p:nvSpPr>
          <p:cNvPr id="6" name="Text 3"/>
          <p:cNvSpPr/>
          <p:nvPr/>
        </p:nvSpPr>
        <p:spPr>
          <a:xfrm>
            <a:off x="1133951" y="3747730"/>
            <a:ext cx="7216259" cy="213169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Manual timetable creation is time-consuming and labor-intensive</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High risk of conflicts between classes, teachers, and rooms</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Hard to manage multiple simultaneous constraints</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Inefficient allocation of limited resources (labs, halls)</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Absence of smart automation and adaptability</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686639"/>
            <a:ext cx="6275665" cy="566976"/>
          </a:xfrm>
          <a:prstGeom prst="rect">
            <a:avLst/>
          </a:prstGeom>
          <a:noFill/>
          <a:ln/>
        </p:spPr>
        <p:txBody>
          <a:bodyPr wrap="none" lIns="0" tIns="0" rIns="0" bIns="0" rtlCol="0" anchor="t"/>
          <a:lstStyle/>
          <a:p>
            <a:pPr marL="0" indent="0" algn="l">
              <a:lnSpc>
                <a:spcPts val="4450"/>
              </a:lnSpc>
              <a:buNone/>
            </a:pPr>
            <a:r>
              <a:rPr lang="en-US" sz="3550" dirty="0">
                <a:solidFill>
                  <a:srgbClr val="152D47"/>
                </a:solidFill>
                <a:latin typeface="Crimson Pro Semi Bold" pitchFamily="34" charset="0"/>
                <a:ea typeface="Crimson Pro Semi Bold" pitchFamily="34" charset="-122"/>
                <a:cs typeface="Crimson Pro Semi Bold" pitchFamily="34" charset="-120"/>
              </a:rPr>
              <a:t>Literature Survey &amp; Research Gap</a:t>
            </a:r>
            <a:endParaRPr lang="en-US" sz="3550" dirty="0"/>
          </a:p>
        </p:txBody>
      </p:sp>
      <p:sp>
        <p:nvSpPr>
          <p:cNvPr id="4" name="Text 1"/>
          <p:cNvSpPr/>
          <p:nvPr/>
        </p:nvSpPr>
        <p:spPr>
          <a:xfrm>
            <a:off x="793790" y="282059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D47"/>
                </a:solidFill>
                <a:latin typeface="Crimson Pro Semi Bold" pitchFamily="34" charset="0"/>
                <a:ea typeface="Crimson Pro Semi Bold" pitchFamily="34" charset="-122"/>
                <a:cs typeface="Crimson Pro Semi Bold" pitchFamily="34" charset="-120"/>
              </a:rPr>
              <a:t>Compared Approaches</a:t>
            </a:r>
            <a:endParaRPr lang="en-US" sz="2200" dirty="0"/>
          </a:p>
        </p:txBody>
      </p:sp>
      <p:sp>
        <p:nvSpPr>
          <p:cNvPr id="5" name="Text 2"/>
          <p:cNvSpPr/>
          <p:nvPr/>
        </p:nvSpPr>
        <p:spPr>
          <a:xfrm>
            <a:off x="793790" y="3401735"/>
            <a:ext cx="3501509" cy="3061811"/>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Manual scheduling — flexible but slow and error-prone</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Basic timetable software — faster but limited constraint handling</a:t>
            </a:r>
            <a:endParaRPr lang="en-US" sz="1750" dirty="0"/>
          </a:p>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Existing optimization tools — powerful but complex and hard to adapt</a:t>
            </a:r>
            <a:endParaRPr lang="en-US" sz="1750" dirty="0"/>
          </a:p>
        </p:txBody>
      </p:sp>
      <p:sp>
        <p:nvSpPr>
          <p:cNvPr id="6" name="Text 3"/>
          <p:cNvSpPr/>
          <p:nvPr/>
        </p:nvSpPr>
        <p:spPr>
          <a:xfrm>
            <a:off x="4856321" y="282059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D47"/>
                </a:solidFill>
                <a:latin typeface="Crimson Pro Semi Bold" pitchFamily="34" charset="0"/>
                <a:ea typeface="Crimson Pro Semi Bold" pitchFamily="34" charset="-122"/>
                <a:cs typeface="Crimson Pro Semi Bold" pitchFamily="34" charset="-120"/>
              </a:rPr>
              <a:t>Research Gap</a:t>
            </a:r>
            <a:endParaRPr lang="en-US" sz="2200" dirty="0"/>
          </a:p>
        </p:txBody>
      </p:sp>
      <p:sp>
        <p:nvSpPr>
          <p:cNvPr id="7" name="Text 4"/>
          <p:cNvSpPr/>
          <p:nvPr/>
        </p:nvSpPr>
        <p:spPr>
          <a:xfrm>
            <a:off x="4856321" y="3401735"/>
            <a:ext cx="3501509" cy="2540318"/>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No simple, adaptive AI-based system exists that dynamically models real-world college constraints (ad hoc changes, mixed resources) while remaining easy to use for administrative staff.</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81249" y="552331"/>
            <a:ext cx="3970853" cy="496253"/>
          </a:xfrm>
          <a:prstGeom prst="rect">
            <a:avLst/>
          </a:prstGeom>
          <a:noFill/>
          <a:ln/>
        </p:spPr>
        <p:txBody>
          <a:bodyPr wrap="none" lIns="0" tIns="0" rIns="0" bIns="0" rtlCol="0" anchor="t"/>
          <a:lstStyle/>
          <a:p>
            <a:pPr marL="0" indent="0" algn="l">
              <a:lnSpc>
                <a:spcPts val="3900"/>
              </a:lnSpc>
              <a:buNone/>
            </a:pPr>
            <a:r>
              <a:rPr lang="en-US" sz="3100" dirty="0">
                <a:solidFill>
                  <a:srgbClr val="152D47"/>
                </a:solidFill>
                <a:latin typeface="Crimson Pro Semi Bold" pitchFamily="34" charset="0"/>
                <a:ea typeface="Crimson Pro Semi Bold" pitchFamily="34" charset="-122"/>
                <a:cs typeface="Crimson Pro Semi Bold" pitchFamily="34" charset="-120"/>
              </a:rPr>
              <a:t>System Architecture</a:t>
            </a:r>
            <a:endParaRPr lang="en-US" sz="3100" dirty="0"/>
          </a:p>
        </p:txBody>
      </p:sp>
      <p:pic>
        <p:nvPicPr>
          <p:cNvPr id="4" name="Image 1" descr="preencoded.png"/>
          <p:cNvPicPr>
            <a:picLocks noChangeAspect="1"/>
          </p:cNvPicPr>
          <p:nvPr/>
        </p:nvPicPr>
        <p:blipFill>
          <a:blip r:embed="rId4"/>
          <a:stretch>
            <a:fillRect/>
          </a:stretch>
        </p:blipFill>
        <p:spPr>
          <a:xfrm>
            <a:off x="6444377" y="1309211"/>
            <a:ext cx="7228046" cy="5576768"/>
          </a:xfrm>
          <a:prstGeom prst="rect">
            <a:avLst/>
          </a:prstGeom>
        </p:spPr>
      </p:pic>
      <p:sp>
        <p:nvSpPr>
          <p:cNvPr id="5" name="Text 1"/>
          <p:cNvSpPr/>
          <p:nvPr/>
        </p:nvSpPr>
        <p:spPr>
          <a:xfrm>
            <a:off x="9418846" y="3784359"/>
            <a:ext cx="1260635" cy="576510"/>
          </a:xfrm>
          <a:prstGeom prst="rect">
            <a:avLst/>
          </a:prstGeom>
          <a:noFill/>
          <a:ln/>
        </p:spPr>
        <p:txBody>
          <a:bodyPr wrap="square" lIns="0" tIns="0" rIns="0" bIns="0" rtlCol="0" anchor="t"/>
          <a:lstStyle/>
          <a:p>
            <a:pPr marL="0" indent="0" algn="ctr">
              <a:lnSpc>
                <a:spcPts val="2250"/>
              </a:lnSpc>
              <a:buNone/>
            </a:pPr>
            <a:r>
              <a:rPr lang="en-US" sz="1800" dirty="0">
                <a:solidFill>
                  <a:srgbClr val="FFFFFF"/>
                </a:solidFill>
                <a:latin typeface="Crimson Pro Semi Bold" pitchFamily="34" charset="0"/>
                <a:ea typeface="Crimson Pro Semi Bold" pitchFamily="34" charset="-122"/>
                <a:cs typeface="Crimson Pro Semi Bold" pitchFamily="34" charset="-120"/>
              </a:rPr>
              <a:t>Schedule System Flow</a:t>
            </a:r>
            <a:endParaRPr lang="en-US" sz="1800" dirty="0"/>
          </a:p>
        </p:txBody>
      </p:sp>
      <p:sp>
        <p:nvSpPr>
          <p:cNvPr id="6" name="Text 2"/>
          <p:cNvSpPr/>
          <p:nvPr/>
        </p:nvSpPr>
        <p:spPr>
          <a:xfrm>
            <a:off x="10658983" y="5521095"/>
            <a:ext cx="1875419" cy="288255"/>
          </a:xfrm>
          <a:prstGeom prst="rect">
            <a:avLst/>
          </a:prstGeom>
          <a:noFill/>
          <a:ln/>
        </p:spPr>
        <p:txBody>
          <a:bodyPr wrap="none" lIns="0" tIns="0" rIns="0" bIns="0" rtlCol="0" anchor="t"/>
          <a:lstStyle/>
          <a:p>
            <a:pPr marL="0" indent="0" algn="ctr">
              <a:lnSpc>
                <a:spcPts val="2250"/>
              </a:lnSpc>
              <a:buNone/>
            </a:pPr>
            <a:r>
              <a:rPr lang="en-US" sz="1800" dirty="0">
                <a:solidFill>
                  <a:srgbClr val="4C4C4D"/>
                </a:solidFill>
                <a:latin typeface="Crimson Pro Semi Bold" pitchFamily="34" charset="0"/>
                <a:ea typeface="Crimson Pro Semi Bold" pitchFamily="34" charset="-122"/>
                <a:cs typeface="Crimson Pro Semi Bold" pitchFamily="34" charset="-120"/>
              </a:rPr>
              <a:t>Backend logic</a:t>
            </a:r>
            <a:endParaRPr lang="en-US" sz="1800" dirty="0"/>
          </a:p>
        </p:txBody>
      </p:sp>
      <p:sp>
        <p:nvSpPr>
          <p:cNvPr id="7" name="Text 3"/>
          <p:cNvSpPr/>
          <p:nvPr/>
        </p:nvSpPr>
        <p:spPr>
          <a:xfrm>
            <a:off x="10658983" y="5891342"/>
            <a:ext cx="1875419" cy="432382"/>
          </a:xfrm>
          <a:prstGeom prst="rect">
            <a:avLst/>
          </a:prstGeom>
          <a:noFill/>
          <a:ln/>
        </p:spPr>
        <p:txBody>
          <a:bodyPr wrap="square" lIns="0" tIns="0" rIns="0" bIns="0" rtlCol="0" anchor="t"/>
          <a:lstStyle/>
          <a:p>
            <a:pPr marL="0" indent="0" algn="ctr">
              <a:lnSpc>
                <a:spcPts val="1700"/>
              </a:lnSpc>
              <a:buNone/>
            </a:pPr>
            <a:r>
              <a:rPr lang="en-US" sz="1450" dirty="0">
                <a:solidFill>
                  <a:srgbClr val="4C4C4D"/>
                </a:solidFill>
                <a:latin typeface="Heebo" pitchFamily="34" charset="0"/>
                <a:ea typeface="Heebo" pitchFamily="34" charset="-122"/>
                <a:cs typeface="Heebo" pitchFamily="34" charset="-120"/>
              </a:rPr>
              <a:t>Scheduling and rules engine</a:t>
            </a:r>
            <a:endParaRPr lang="en-US" sz="1450" dirty="0"/>
          </a:p>
        </p:txBody>
      </p:sp>
      <p:sp>
        <p:nvSpPr>
          <p:cNvPr id="8" name="Text 4"/>
          <p:cNvSpPr/>
          <p:nvPr/>
        </p:nvSpPr>
        <p:spPr>
          <a:xfrm>
            <a:off x="6743840" y="3676263"/>
            <a:ext cx="1916415" cy="288255"/>
          </a:xfrm>
          <a:prstGeom prst="rect">
            <a:avLst/>
          </a:prstGeom>
          <a:noFill/>
          <a:ln/>
        </p:spPr>
        <p:txBody>
          <a:bodyPr wrap="none" lIns="0" tIns="0" rIns="0" bIns="0" rtlCol="0" anchor="t"/>
          <a:lstStyle/>
          <a:p>
            <a:pPr marL="0" indent="0" algn="ctr">
              <a:lnSpc>
                <a:spcPts val="2250"/>
              </a:lnSpc>
              <a:buNone/>
            </a:pPr>
            <a:r>
              <a:rPr lang="en-US" sz="1800" dirty="0">
                <a:solidFill>
                  <a:srgbClr val="4C4C4D"/>
                </a:solidFill>
                <a:latin typeface="Crimson Pro Semi Bold" pitchFamily="34" charset="0"/>
                <a:ea typeface="Crimson Pro Semi Bold" pitchFamily="34" charset="-122"/>
                <a:cs typeface="Crimson Pro Semi Bold" pitchFamily="34" charset="-120"/>
              </a:rPr>
              <a:t>Future AI module</a:t>
            </a:r>
            <a:endParaRPr lang="en-US" sz="1800" dirty="0"/>
          </a:p>
        </p:txBody>
      </p:sp>
      <p:sp>
        <p:nvSpPr>
          <p:cNvPr id="9" name="Text 5"/>
          <p:cNvSpPr/>
          <p:nvPr/>
        </p:nvSpPr>
        <p:spPr>
          <a:xfrm>
            <a:off x="6743840" y="4046510"/>
            <a:ext cx="1916415" cy="432383"/>
          </a:xfrm>
          <a:prstGeom prst="rect">
            <a:avLst/>
          </a:prstGeom>
          <a:noFill/>
          <a:ln/>
        </p:spPr>
        <p:txBody>
          <a:bodyPr wrap="square" lIns="0" tIns="0" rIns="0" bIns="0" rtlCol="0" anchor="t"/>
          <a:lstStyle/>
          <a:p>
            <a:pPr marL="0" indent="0" algn="ctr">
              <a:lnSpc>
                <a:spcPts val="1700"/>
              </a:lnSpc>
              <a:buNone/>
            </a:pPr>
            <a:r>
              <a:rPr lang="en-US" sz="1450" dirty="0">
                <a:solidFill>
                  <a:srgbClr val="4C4C4D"/>
                </a:solidFill>
                <a:latin typeface="Heebo" pitchFamily="34" charset="0"/>
                <a:ea typeface="Heebo" pitchFamily="34" charset="-122"/>
                <a:cs typeface="Heebo" pitchFamily="34" charset="-120"/>
              </a:rPr>
              <a:t>Optional optimization suggestions</a:t>
            </a:r>
            <a:endParaRPr lang="en-US" sz="1450" dirty="0"/>
          </a:p>
        </p:txBody>
      </p:sp>
      <p:sp>
        <p:nvSpPr>
          <p:cNvPr id="10" name="Text 6"/>
          <p:cNvSpPr/>
          <p:nvPr/>
        </p:nvSpPr>
        <p:spPr>
          <a:xfrm>
            <a:off x="7533017" y="5521095"/>
            <a:ext cx="1875419" cy="288255"/>
          </a:xfrm>
          <a:prstGeom prst="rect">
            <a:avLst/>
          </a:prstGeom>
          <a:noFill/>
          <a:ln/>
        </p:spPr>
        <p:txBody>
          <a:bodyPr wrap="none" lIns="0" tIns="0" rIns="0" bIns="0" rtlCol="0" anchor="t"/>
          <a:lstStyle/>
          <a:p>
            <a:pPr marL="0" indent="0" algn="ctr">
              <a:lnSpc>
                <a:spcPts val="2250"/>
              </a:lnSpc>
              <a:buNone/>
            </a:pPr>
            <a:r>
              <a:rPr lang="en-US" sz="1800" dirty="0">
                <a:solidFill>
                  <a:srgbClr val="4C4C4D"/>
                </a:solidFill>
                <a:latin typeface="Crimson Pro Semi Bold" pitchFamily="34" charset="0"/>
                <a:ea typeface="Crimson Pro Semi Bold" pitchFamily="34" charset="-122"/>
                <a:cs typeface="Crimson Pro Semi Bold" pitchFamily="34" charset="-120"/>
              </a:rPr>
              <a:t>Database</a:t>
            </a:r>
            <a:endParaRPr lang="en-US" sz="1800" dirty="0"/>
          </a:p>
        </p:txBody>
      </p:sp>
      <p:sp>
        <p:nvSpPr>
          <p:cNvPr id="11" name="Text 7"/>
          <p:cNvSpPr/>
          <p:nvPr/>
        </p:nvSpPr>
        <p:spPr>
          <a:xfrm>
            <a:off x="7533017" y="5891342"/>
            <a:ext cx="1875419" cy="432382"/>
          </a:xfrm>
          <a:prstGeom prst="rect">
            <a:avLst/>
          </a:prstGeom>
          <a:noFill/>
          <a:ln/>
        </p:spPr>
        <p:txBody>
          <a:bodyPr wrap="square" lIns="0" tIns="0" rIns="0" bIns="0" rtlCol="0" anchor="t"/>
          <a:lstStyle/>
          <a:p>
            <a:pPr marL="0" indent="0" algn="ctr">
              <a:lnSpc>
                <a:spcPts val="1700"/>
              </a:lnSpc>
              <a:buNone/>
            </a:pPr>
            <a:r>
              <a:rPr lang="en-US" sz="1450" dirty="0">
                <a:solidFill>
                  <a:srgbClr val="4C4C4D"/>
                </a:solidFill>
                <a:latin typeface="Heebo" pitchFamily="34" charset="0"/>
                <a:ea typeface="Heebo" pitchFamily="34" charset="-122"/>
                <a:cs typeface="Heebo" pitchFamily="34" charset="-120"/>
              </a:rPr>
              <a:t>Persistent storage of assignments</a:t>
            </a:r>
            <a:endParaRPr lang="en-US" sz="1450" dirty="0"/>
          </a:p>
        </p:txBody>
      </p:sp>
      <p:sp>
        <p:nvSpPr>
          <p:cNvPr id="12" name="Text 8"/>
          <p:cNvSpPr/>
          <p:nvPr/>
        </p:nvSpPr>
        <p:spPr>
          <a:xfrm>
            <a:off x="11437911" y="3666014"/>
            <a:ext cx="1916414" cy="288255"/>
          </a:xfrm>
          <a:prstGeom prst="rect">
            <a:avLst/>
          </a:prstGeom>
          <a:noFill/>
          <a:ln/>
        </p:spPr>
        <p:txBody>
          <a:bodyPr wrap="none" lIns="0" tIns="0" rIns="0" bIns="0" rtlCol="0" anchor="t"/>
          <a:lstStyle/>
          <a:p>
            <a:pPr marL="0" indent="0" algn="ctr">
              <a:lnSpc>
                <a:spcPts val="2250"/>
              </a:lnSpc>
              <a:buNone/>
            </a:pPr>
            <a:r>
              <a:rPr lang="en-US" sz="1800" dirty="0">
                <a:solidFill>
                  <a:srgbClr val="4C4C4D"/>
                </a:solidFill>
                <a:latin typeface="Crimson Pro Semi Bold" pitchFamily="34" charset="0"/>
                <a:ea typeface="Crimson Pro Semi Bold" pitchFamily="34" charset="-122"/>
                <a:cs typeface="Crimson Pro Semi Bold" pitchFamily="34" charset="-120"/>
              </a:rPr>
              <a:t>Frontend interface</a:t>
            </a:r>
            <a:endParaRPr lang="en-US" sz="1800" dirty="0"/>
          </a:p>
        </p:txBody>
      </p:sp>
      <p:sp>
        <p:nvSpPr>
          <p:cNvPr id="13" name="Text 9"/>
          <p:cNvSpPr/>
          <p:nvPr/>
        </p:nvSpPr>
        <p:spPr>
          <a:xfrm>
            <a:off x="11437911" y="4036262"/>
            <a:ext cx="1916414" cy="432382"/>
          </a:xfrm>
          <a:prstGeom prst="rect">
            <a:avLst/>
          </a:prstGeom>
          <a:noFill/>
          <a:ln/>
        </p:spPr>
        <p:txBody>
          <a:bodyPr wrap="square" lIns="0" tIns="0" rIns="0" bIns="0" rtlCol="0" anchor="t"/>
          <a:lstStyle/>
          <a:p>
            <a:pPr marL="0" indent="0" algn="ctr">
              <a:lnSpc>
                <a:spcPts val="1700"/>
              </a:lnSpc>
              <a:buNone/>
            </a:pPr>
            <a:r>
              <a:rPr lang="en-US" sz="1450" dirty="0">
                <a:solidFill>
                  <a:srgbClr val="4C4C4D"/>
                </a:solidFill>
                <a:latin typeface="Heebo" pitchFamily="34" charset="0"/>
                <a:ea typeface="Heebo" pitchFamily="34" charset="-122"/>
                <a:cs typeface="Heebo" pitchFamily="34" charset="-120"/>
              </a:rPr>
              <a:t>Presentation and forms</a:t>
            </a:r>
            <a:endParaRPr lang="en-US" sz="1450" dirty="0"/>
          </a:p>
        </p:txBody>
      </p:sp>
      <p:sp>
        <p:nvSpPr>
          <p:cNvPr id="14" name="Text 10"/>
          <p:cNvSpPr/>
          <p:nvPr/>
        </p:nvSpPr>
        <p:spPr>
          <a:xfrm>
            <a:off x="9049879" y="1744314"/>
            <a:ext cx="1926664" cy="288255"/>
          </a:xfrm>
          <a:prstGeom prst="rect">
            <a:avLst/>
          </a:prstGeom>
          <a:noFill/>
          <a:ln/>
        </p:spPr>
        <p:txBody>
          <a:bodyPr wrap="none" lIns="0" tIns="0" rIns="0" bIns="0" rtlCol="0" anchor="t"/>
          <a:lstStyle/>
          <a:p>
            <a:pPr marL="0" indent="0" algn="ctr">
              <a:lnSpc>
                <a:spcPts val="2250"/>
              </a:lnSpc>
              <a:buNone/>
            </a:pPr>
            <a:r>
              <a:rPr lang="en-US" sz="1800" dirty="0">
                <a:solidFill>
                  <a:srgbClr val="4C4C4D"/>
                </a:solidFill>
                <a:latin typeface="Crimson Pro Semi Bold" pitchFamily="34" charset="0"/>
                <a:ea typeface="Crimson Pro Semi Bold" pitchFamily="34" charset="-122"/>
                <a:cs typeface="Crimson Pro Semi Bold" pitchFamily="34" charset="-120"/>
              </a:rPr>
              <a:t>User inputs</a:t>
            </a:r>
            <a:endParaRPr lang="en-US" sz="1800" dirty="0"/>
          </a:p>
        </p:txBody>
      </p:sp>
      <p:sp>
        <p:nvSpPr>
          <p:cNvPr id="15" name="Text 11"/>
          <p:cNvSpPr/>
          <p:nvPr/>
        </p:nvSpPr>
        <p:spPr>
          <a:xfrm>
            <a:off x="9049879" y="2114562"/>
            <a:ext cx="1926664" cy="432382"/>
          </a:xfrm>
          <a:prstGeom prst="rect">
            <a:avLst/>
          </a:prstGeom>
          <a:noFill/>
          <a:ln/>
        </p:spPr>
        <p:txBody>
          <a:bodyPr wrap="square" lIns="0" tIns="0" rIns="0" bIns="0" rtlCol="0" anchor="t"/>
          <a:lstStyle/>
          <a:p>
            <a:pPr marL="0" indent="0" algn="ctr">
              <a:lnSpc>
                <a:spcPts val="1700"/>
              </a:lnSpc>
              <a:buNone/>
            </a:pPr>
            <a:r>
              <a:rPr lang="en-US" sz="1450" dirty="0">
                <a:solidFill>
                  <a:srgbClr val="4C4C4D"/>
                </a:solidFill>
                <a:latin typeface="Heebo" pitchFamily="34" charset="0"/>
                <a:ea typeface="Heebo" pitchFamily="34" charset="-122"/>
                <a:cs typeface="Heebo" pitchFamily="34" charset="-120"/>
              </a:rPr>
              <a:t>Classes, subjects, teachers</a:t>
            </a:r>
            <a:endParaRPr lang="en-US" sz="1450" dirty="0"/>
          </a:p>
        </p:txBody>
      </p:sp>
      <p:sp>
        <p:nvSpPr>
          <p:cNvPr id="16" name="Text 12"/>
          <p:cNvSpPr/>
          <p:nvPr/>
        </p:nvSpPr>
        <p:spPr>
          <a:xfrm>
            <a:off x="6181249" y="7081480"/>
            <a:ext cx="7754303" cy="595789"/>
          </a:xfrm>
          <a:prstGeom prst="rect">
            <a:avLst/>
          </a:prstGeom>
          <a:noFill/>
          <a:ln/>
        </p:spPr>
        <p:txBody>
          <a:bodyPr wrap="square" lIns="0" tIns="0" rIns="0" bIns="0" rtlCol="0" anchor="t"/>
          <a:lstStyle/>
          <a:p>
            <a:pPr marL="0" indent="0" algn="l">
              <a:lnSpc>
                <a:spcPts val="2300"/>
              </a:lnSpc>
              <a:buNone/>
            </a:pPr>
            <a:r>
              <a:rPr lang="en-US" sz="1550" dirty="0">
                <a:solidFill>
                  <a:srgbClr val="4C4C4D"/>
                </a:solidFill>
                <a:latin typeface="Heebo" pitchFamily="34" charset="0"/>
                <a:ea typeface="Heebo" pitchFamily="34" charset="-122"/>
                <a:cs typeface="Heebo" pitchFamily="34" charset="-120"/>
              </a:rPr>
              <a:t>The architecture separates presentation, scheduling logic, and persistent storage. Future AI will plug into the backend to suggest optimized assignments and adaptations.</a:t>
            </a:r>
            <a:endParaRPr lang="en-US" sz="1550" dirty="0"/>
          </a:p>
        </p:txBody>
      </p:sp>
      <p:sp>
        <p:nvSpPr>
          <p:cNvPr id="17" name="Rectangle 16">
            <a:extLst>
              <a:ext uri="{FF2B5EF4-FFF2-40B4-BE49-F238E27FC236}">
                <a16:creationId xmlns:a16="http://schemas.microsoft.com/office/drawing/2014/main" id="{C5B49D66-5D0C-2BEA-5028-84075EDE4B5E}"/>
              </a:ext>
            </a:extLst>
          </p:cNvPr>
          <p:cNvSpPr/>
          <p:nvPr/>
        </p:nvSpPr>
        <p:spPr>
          <a:xfrm>
            <a:off x="12614564" y="7751618"/>
            <a:ext cx="1911927" cy="3948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27488" y="2731175"/>
            <a:ext cx="4919305" cy="2767132"/>
          </a:xfrm>
          <a:prstGeom prst="rect">
            <a:avLst/>
          </a:prstGeom>
        </p:spPr>
      </p:pic>
      <p:sp>
        <p:nvSpPr>
          <p:cNvPr id="4" name="Text 0"/>
          <p:cNvSpPr/>
          <p:nvPr/>
        </p:nvSpPr>
        <p:spPr>
          <a:xfrm>
            <a:off x="793790" y="1095494"/>
            <a:ext cx="5930265" cy="566976"/>
          </a:xfrm>
          <a:prstGeom prst="rect">
            <a:avLst/>
          </a:prstGeom>
          <a:noFill/>
          <a:ln/>
        </p:spPr>
        <p:txBody>
          <a:bodyPr wrap="none" lIns="0" tIns="0" rIns="0" bIns="0" rtlCol="0" anchor="t"/>
          <a:lstStyle/>
          <a:p>
            <a:pPr marL="0" indent="0" algn="l">
              <a:lnSpc>
                <a:spcPts val="4450"/>
              </a:lnSpc>
              <a:buNone/>
            </a:pPr>
            <a:r>
              <a:rPr lang="en-US" sz="3550" dirty="0">
                <a:solidFill>
                  <a:srgbClr val="152D47"/>
                </a:solidFill>
                <a:latin typeface="Crimson Pro Semi Bold" pitchFamily="34" charset="0"/>
                <a:ea typeface="Crimson Pro Semi Bold" pitchFamily="34" charset="-122"/>
                <a:cs typeface="Crimson Pro Semi Bold" pitchFamily="34" charset="-120"/>
              </a:rPr>
              <a:t>Initial Implementation (Status)</a:t>
            </a:r>
            <a:endParaRPr lang="en-US" sz="3550" dirty="0"/>
          </a:p>
        </p:txBody>
      </p:sp>
      <p:sp>
        <p:nvSpPr>
          <p:cNvPr id="5" name="Shape 1"/>
          <p:cNvSpPr/>
          <p:nvPr/>
        </p:nvSpPr>
        <p:spPr>
          <a:xfrm>
            <a:off x="793790" y="2002631"/>
            <a:ext cx="3664744" cy="2448044"/>
          </a:xfrm>
          <a:prstGeom prst="roundRect">
            <a:avLst>
              <a:gd name="adj" fmla="val 5976"/>
            </a:avLst>
          </a:prstGeom>
          <a:solidFill>
            <a:srgbClr val="FFFFFF"/>
          </a:solidFill>
          <a:ln w="30480">
            <a:solidFill>
              <a:srgbClr val="D8D4D4"/>
            </a:solidFill>
            <a:prstDash val="solid"/>
          </a:ln>
        </p:spPr>
      </p:sp>
      <p:sp>
        <p:nvSpPr>
          <p:cNvPr id="6" name="Shape 2"/>
          <p:cNvSpPr/>
          <p:nvPr/>
        </p:nvSpPr>
        <p:spPr>
          <a:xfrm>
            <a:off x="763310" y="2002631"/>
            <a:ext cx="121920" cy="2448044"/>
          </a:xfrm>
          <a:prstGeom prst="roundRect">
            <a:avLst>
              <a:gd name="adj" fmla="val 27907"/>
            </a:avLst>
          </a:prstGeom>
          <a:solidFill>
            <a:srgbClr val="2150FE"/>
          </a:solidFill>
          <a:ln/>
        </p:spPr>
      </p:sp>
      <p:sp>
        <p:nvSpPr>
          <p:cNvPr id="7" name="Text 3"/>
          <p:cNvSpPr/>
          <p:nvPr/>
        </p:nvSpPr>
        <p:spPr>
          <a:xfrm>
            <a:off x="1142524" y="225992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Frontend Completed</a:t>
            </a:r>
            <a:endParaRPr lang="en-US" sz="2200" dirty="0"/>
          </a:p>
        </p:txBody>
      </p:sp>
      <p:sp>
        <p:nvSpPr>
          <p:cNvPr id="8" name="Text 4"/>
          <p:cNvSpPr/>
          <p:nvPr/>
        </p:nvSpPr>
        <p:spPr>
          <a:xfrm>
            <a:off x="1142524" y="2750344"/>
            <a:ext cx="3058716" cy="1088708"/>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User interface for data entry and schedule preview is implemented.</a:t>
            </a:r>
            <a:endParaRPr lang="en-US" sz="1750" dirty="0"/>
          </a:p>
        </p:txBody>
      </p:sp>
      <p:sp>
        <p:nvSpPr>
          <p:cNvPr id="9" name="Shape 5"/>
          <p:cNvSpPr/>
          <p:nvPr/>
        </p:nvSpPr>
        <p:spPr>
          <a:xfrm>
            <a:off x="4685348" y="2002631"/>
            <a:ext cx="3664863" cy="2448044"/>
          </a:xfrm>
          <a:prstGeom prst="roundRect">
            <a:avLst>
              <a:gd name="adj" fmla="val 5976"/>
            </a:avLst>
          </a:prstGeom>
          <a:solidFill>
            <a:srgbClr val="FFFFFF"/>
          </a:solidFill>
          <a:ln w="30480">
            <a:solidFill>
              <a:srgbClr val="D8D4D4"/>
            </a:solidFill>
            <a:prstDash val="solid"/>
          </a:ln>
        </p:spPr>
      </p:sp>
      <p:sp>
        <p:nvSpPr>
          <p:cNvPr id="10" name="Shape 6"/>
          <p:cNvSpPr/>
          <p:nvPr/>
        </p:nvSpPr>
        <p:spPr>
          <a:xfrm>
            <a:off x="4654868" y="2002631"/>
            <a:ext cx="121920" cy="2448044"/>
          </a:xfrm>
          <a:prstGeom prst="roundRect">
            <a:avLst>
              <a:gd name="adj" fmla="val 27907"/>
            </a:avLst>
          </a:prstGeom>
          <a:solidFill>
            <a:srgbClr val="2150FE"/>
          </a:solidFill>
          <a:ln/>
        </p:spPr>
      </p:sp>
      <p:sp>
        <p:nvSpPr>
          <p:cNvPr id="11" name="Text 7"/>
          <p:cNvSpPr/>
          <p:nvPr/>
        </p:nvSpPr>
        <p:spPr>
          <a:xfrm>
            <a:off x="5034082" y="2259925"/>
            <a:ext cx="3058835" cy="70866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Timetable Generation Working</a:t>
            </a:r>
            <a:endParaRPr lang="en-US" sz="2200" dirty="0"/>
          </a:p>
        </p:txBody>
      </p:sp>
      <p:sp>
        <p:nvSpPr>
          <p:cNvPr id="12" name="Text 8"/>
          <p:cNvSpPr/>
          <p:nvPr/>
        </p:nvSpPr>
        <p:spPr>
          <a:xfrm>
            <a:off x="5034082" y="3104674"/>
            <a:ext cx="3058835" cy="1088708"/>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Algorithm produces valid schedules using deterministic logic rules.</a:t>
            </a:r>
            <a:endParaRPr lang="en-US" sz="1750" dirty="0"/>
          </a:p>
        </p:txBody>
      </p:sp>
      <p:sp>
        <p:nvSpPr>
          <p:cNvPr id="13" name="Shape 9"/>
          <p:cNvSpPr/>
          <p:nvPr/>
        </p:nvSpPr>
        <p:spPr>
          <a:xfrm>
            <a:off x="793790" y="4677489"/>
            <a:ext cx="3664744" cy="2456617"/>
          </a:xfrm>
          <a:prstGeom prst="roundRect">
            <a:avLst>
              <a:gd name="adj" fmla="val 5956"/>
            </a:avLst>
          </a:prstGeom>
          <a:solidFill>
            <a:srgbClr val="FFFFFF"/>
          </a:solidFill>
          <a:ln w="30480">
            <a:solidFill>
              <a:srgbClr val="D8D4D4"/>
            </a:solidFill>
            <a:prstDash val="solid"/>
          </a:ln>
        </p:spPr>
      </p:sp>
      <p:sp>
        <p:nvSpPr>
          <p:cNvPr id="14" name="Shape 10"/>
          <p:cNvSpPr/>
          <p:nvPr/>
        </p:nvSpPr>
        <p:spPr>
          <a:xfrm>
            <a:off x="763310" y="4677489"/>
            <a:ext cx="121920" cy="2456617"/>
          </a:xfrm>
          <a:prstGeom prst="roundRect">
            <a:avLst>
              <a:gd name="adj" fmla="val 27907"/>
            </a:avLst>
          </a:prstGeom>
          <a:solidFill>
            <a:srgbClr val="2150FE"/>
          </a:solidFill>
          <a:ln/>
        </p:spPr>
      </p:sp>
      <p:sp>
        <p:nvSpPr>
          <p:cNvPr id="15" name="Text 11"/>
          <p:cNvSpPr/>
          <p:nvPr/>
        </p:nvSpPr>
        <p:spPr>
          <a:xfrm>
            <a:off x="1142524" y="493478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Logic-Based Scheduling</a:t>
            </a:r>
            <a:endParaRPr lang="en-US" sz="2200" dirty="0"/>
          </a:p>
        </p:txBody>
      </p:sp>
      <p:sp>
        <p:nvSpPr>
          <p:cNvPr id="16" name="Text 12"/>
          <p:cNvSpPr/>
          <p:nvPr/>
        </p:nvSpPr>
        <p:spPr>
          <a:xfrm>
            <a:off x="1142524" y="5425202"/>
            <a:ext cx="3058716" cy="1451610"/>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Constraint engine handles availability, room assignments, and basic precedence.</a:t>
            </a:r>
            <a:endParaRPr lang="en-US" sz="1750" dirty="0"/>
          </a:p>
        </p:txBody>
      </p:sp>
      <p:sp>
        <p:nvSpPr>
          <p:cNvPr id="17" name="Shape 13"/>
          <p:cNvSpPr/>
          <p:nvPr/>
        </p:nvSpPr>
        <p:spPr>
          <a:xfrm>
            <a:off x="4685348" y="4677489"/>
            <a:ext cx="3664863" cy="2456617"/>
          </a:xfrm>
          <a:prstGeom prst="roundRect">
            <a:avLst>
              <a:gd name="adj" fmla="val 5956"/>
            </a:avLst>
          </a:prstGeom>
          <a:solidFill>
            <a:srgbClr val="FFFFFF"/>
          </a:solidFill>
          <a:ln w="30480">
            <a:solidFill>
              <a:srgbClr val="D8D4D4"/>
            </a:solidFill>
            <a:prstDash val="solid"/>
          </a:ln>
        </p:spPr>
      </p:sp>
      <p:sp>
        <p:nvSpPr>
          <p:cNvPr id="18" name="Shape 14"/>
          <p:cNvSpPr/>
          <p:nvPr/>
        </p:nvSpPr>
        <p:spPr>
          <a:xfrm>
            <a:off x="4654868" y="4677489"/>
            <a:ext cx="121920" cy="2456617"/>
          </a:xfrm>
          <a:prstGeom prst="roundRect">
            <a:avLst>
              <a:gd name="adj" fmla="val 27907"/>
            </a:avLst>
          </a:prstGeom>
          <a:solidFill>
            <a:srgbClr val="2150FE"/>
          </a:solidFill>
          <a:ln/>
        </p:spPr>
      </p:sp>
      <p:sp>
        <p:nvSpPr>
          <p:cNvPr id="19" name="Text 15"/>
          <p:cNvSpPr/>
          <p:nvPr/>
        </p:nvSpPr>
        <p:spPr>
          <a:xfrm>
            <a:off x="5034082" y="4934783"/>
            <a:ext cx="3058835" cy="70866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AI Module: Not Yet Integrated</a:t>
            </a:r>
            <a:endParaRPr lang="en-US" sz="2200" dirty="0"/>
          </a:p>
        </p:txBody>
      </p:sp>
      <p:sp>
        <p:nvSpPr>
          <p:cNvPr id="20" name="Text 16"/>
          <p:cNvSpPr/>
          <p:nvPr/>
        </p:nvSpPr>
        <p:spPr>
          <a:xfrm>
            <a:off x="5034082" y="5779532"/>
            <a:ext cx="3058835" cy="1088708"/>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Planned as future enhancement for optimization and dynamic adjustments.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126212"/>
            <a:ext cx="5931575" cy="566976"/>
          </a:xfrm>
          <a:prstGeom prst="rect">
            <a:avLst/>
          </a:prstGeom>
          <a:noFill/>
          <a:ln/>
        </p:spPr>
        <p:txBody>
          <a:bodyPr wrap="none" lIns="0" tIns="0" rIns="0" bIns="0" rtlCol="0" anchor="t"/>
          <a:lstStyle/>
          <a:p>
            <a:pPr marL="0" indent="0" algn="l">
              <a:lnSpc>
                <a:spcPts val="4450"/>
              </a:lnSpc>
              <a:buNone/>
            </a:pPr>
            <a:r>
              <a:rPr lang="en-US" sz="3550" dirty="0">
                <a:solidFill>
                  <a:srgbClr val="152D47"/>
                </a:solidFill>
                <a:latin typeface="Crimson Pro Semi Bold" pitchFamily="34" charset="0"/>
                <a:ea typeface="Crimson Pro Semi Bold" pitchFamily="34" charset="-122"/>
                <a:cs typeface="Crimson Pro Semi Bold" pitchFamily="34" charset="-120"/>
              </a:rPr>
              <a:t>Working Output (Placeholders)</a:t>
            </a:r>
            <a:endParaRPr lang="en-US" sz="3550" dirty="0"/>
          </a:p>
        </p:txBody>
      </p:sp>
      <p:pic>
        <p:nvPicPr>
          <p:cNvPr id="3" name="Image 0" descr="preencoded.png"/>
          <p:cNvPicPr>
            <a:picLocks noChangeAspect="1"/>
          </p:cNvPicPr>
          <p:nvPr/>
        </p:nvPicPr>
        <p:blipFill>
          <a:blip r:embed="rId3"/>
          <a:stretch>
            <a:fillRect/>
          </a:stretch>
        </p:blipFill>
        <p:spPr>
          <a:xfrm>
            <a:off x="793790" y="2146816"/>
            <a:ext cx="4593312" cy="2838807"/>
          </a:xfrm>
          <a:prstGeom prst="rect">
            <a:avLst/>
          </a:prstGeom>
        </p:spPr>
      </p:pic>
      <p:sp>
        <p:nvSpPr>
          <p:cNvPr id="4" name="Text 1"/>
          <p:cNvSpPr/>
          <p:nvPr/>
        </p:nvSpPr>
        <p:spPr>
          <a:xfrm>
            <a:off x="793790" y="5269111"/>
            <a:ext cx="3549134"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Frontend Interface Screenshot</a:t>
            </a:r>
            <a:endParaRPr lang="en-US" sz="2200" dirty="0"/>
          </a:p>
        </p:txBody>
      </p:sp>
      <p:sp>
        <p:nvSpPr>
          <p:cNvPr id="5" name="Text 2"/>
          <p:cNvSpPr/>
          <p:nvPr/>
        </p:nvSpPr>
        <p:spPr>
          <a:xfrm>
            <a:off x="793790" y="5759529"/>
            <a:ext cx="6379607" cy="725805"/>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Placeholder for UI capture — displays forms for classes, subjects, teachers, and availability inputs.</a:t>
            </a:r>
            <a:endParaRPr lang="en-US" sz="1750" dirty="0"/>
          </a:p>
        </p:txBody>
      </p:sp>
      <p:pic>
        <p:nvPicPr>
          <p:cNvPr id="6" name="Image 1" descr="preencoded.png"/>
          <p:cNvPicPr>
            <a:picLocks noChangeAspect="1"/>
          </p:cNvPicPr>
          <p:nvPr/>
        </p:nvPicPr>
        <p:blipFill>
          <a:blip r:embed="rId4"/>
          <a:stretch>
            <a:fillRect/>
          </a:stretch>
        </p:blipFill>
        <p:spPr>
          <a:xfrm>
            <a:off x="7456884" y="2146816"/>
            <a:ext cx="4593312" cy="2838807"/>
          </a:xfrm>
          <a:prstGeom prst="rect">
            <a:avLst/>
          </a:prstGeom>
        </p:spPr>
      </p:pic>
      <p:sp>
        <p:nvSpPr>
          <p:cNvPr id="7" name="Text 3"/>
          <p:cNvSpPr/>
          <p:nvPr/>
        </p:nvSpPr>
        <p:spPr>
          <a:xfrm>
            <a:off x="7456884" y="5269111"/>
            <a:ext cx="3817739"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Generated Timetable Screenshot</a:t>
            </a:r>
            <a:endParaRPr lang="en-US" sz="2200" dirty="0"/>
          </a:p>
        </p:txBody>
      </p:sp>
      <p:sp>
        <p:nvSpPr>
          <p:cNvPr id="8" name="Text 4"/>
          <p:cNvSpPr/>
          <p:nvPr/>
        </p:nvSpPr>
        <p:spPr>
          <a:xfrm>
            <a:off x="7456884" y="5759529"/>
            <a:ext cx="6379726" cy="725805"/>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Placeholder for generated schedule image — grid view showing conflict-free allocations.</a:t>
            </a:r>
            <a:endParaRPr lang="en-US" sz="1750" dirty="0"/>
          </a:p>
        </p:txBody>
      </p:sp>
      <p:sp>
        <p:nvSpPr>
          <p:cNvPr id="9" name="Text 5"/>
          <p:cNvSpPr/>
          <p:nvPr/>
        </p:nvSpPr>
        <p:spPr>
          <a:xfrm>
            <a:off x="793790" y="6740485"/>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Insert actual screenshots here before final submission.</a:t>
            </a:r>
            <a:endParaRPr lang="en-US" sz="1750" dirty="0"/>
          </a:p>
        </p:txBody>
      </p:sp>
      <p:sp>
        <p:nvSpPr>
          <p:cNvPr id="10" name="Rectangle 9">
            <a:extLst>
              <a:ext uri="{FF2B5EF4-FFF2-40B4-BE49-F238E27FC236}">
                <a16:creationId xmlns:a16="http://schemas.microsoft.com/office/drawing/2014/main" id="{FF4BEC10-BBD4-E6AE-4C9A-CAA6F5548A6D}"/>
              </a:ext>
            </a:extLst>
          </p:cNvPr>
          <p:cNvSpPr/>
          <p:nvPr/>
        </p:nvSpPr>
        <p:spPr>
          <a:xfrm>
            <a:off x="12614564" y="7460672"/>
            <a:ext cx="1911927" cy="685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798558"/>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152D47"/>
                </a:solidFill>
                <a:latin typeface="Crimson Pro Semi Bold" pitchFamily="34" charset="0"/>
                <a:ea typeface="Crimson Pro Semi Bold" pitchFamily="34" charset="-122"/>
                <a:cs typeface="Crimson Pro Semi Bold" pitchFamily="34" charset="-120"/>
              </a:rPr>
              <a:t>Key Features</a:t>
            </a:r>
            <a:endParaRPr lang="en-US" sz="355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2819162"/>
            <a:ext cx="566976" cy="566976"/>
          </a:xfrm>
          <a:prstGeom prst="rect">
            <a:avLst/>
          </a:prstGeom>
        </p:spPr>
      </p:pic>
      <p:sp>
        <p:nvSpPr>
          <p:cNvPr id="4" name="Text 1"/>
          <p:cNvSpPr/>
          <p:nvPr/>
        </p:nvSpPr>
        <p:spPr>
          <a:xfrm>
            <a:off x="1644253" y="281916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User-Friendly Interface</a:t>
            </a:r>
            <a:endParaRPr lang="en-US" sz="2200" dirty="0"/>
          </a:p>
        </p:txBody>
      </p:sp>
      <p:sp>
        <p:nvSpPr>
          <p:cNvPr id="5" name="Text 2"/>
          <p:cNvSpPr/>
          <p:nvPr/>
        </p:nvSpPr>
        <p:spPr>
          <a:xfrm>
            <a:off x="1644253" y="3309580"/>
            <a:ext cx="3308152" cy="725805"/>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Intuitive forms and previews reduce training time for staff.</a:t>
            </a:r>
            <a:endParaRPr lang="en-US" sz="175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35893" y="2819162"/>
            <a:ext cx="566976" cy="566976"/>
          </a:xfrm>
          <a:prstGeom prst="rect">
            <a:avLst/>
          </a:prstGeom>
        </p:spPr>
      </p:pic>
      <p:sp>
        <p:nvSpPr>
          <p:cNvPr id="7" name="Text 3"/>
          <p:cNvSpPr/>
          <p:nvPr/>
        </p:nvSpPr>
        <p:spPr>
          <a:xfrm>
            <a:off x="6086356" y="2819162"/>
            <a:ext cx="3308152" cy="70866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Class &amp; Subject Management</a:t>
            </a:r>
            <a:endParaRPr lang="en-US" sz="2200" dirty="0"/>
          </a:p>
        </p:txBody>
      </p:sp>
      <p:sp>
        <p:nvSpPr>
          <p:cNvPr id="8" name="Text 4"/>
          <p:cNvSpPr/>
          <p:nvPr/>
        </p:nvSpPr>
        <p:spPr>
          <a:xfrm>
            <a:off x="6086356" y="3663910"/>
            <a:ext cx="3308152" cy="725805"/>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Flexible entry for courses, sections, and lab sessions.</a:t>
            </a:r>
            <a:endParaRPr lang="en-US" sz="1750"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77995" y="2819162"/>
            <a:ext cx="566976" cy="566976"/>
          </a:xfrm>
          <a:prstGeom prst="rect">
            <a:avLst/>
          </a:prstGeom>
        </p:spPr>
      </p:pic>
      <p:sp>
        <p:nvSpPr>
          <p:cNvPr id="10" name="Text 5"/>
          <p:cNvSpPr/>
          <p:nvPr/>
        </p:nvSpPr>
        <p:spPr>
          <a:xfrm>
            <a:off x="10528459" y="2819162"/>
            <a:ext cx="2921198"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Conflict-Free Generation</a:t>
            </a:r>
            <a:endParaRPr lang="en-US" sz="2200" dirty="0"/>
          </a:p>
        </p:txBody>
      </p:sp>
      <p:sp>
        <p:nvSpPr>
          <p:cNvPr id="11" name="Text 6"/>
          <p:cNvSpPr/>
          <p:nvPr/>
        </p:nvSpPr>
        <p:spPr>
          <a:xfrm>
            <a:off x="10528459" y="3309580"/>
            <a:ext cx="3308152" cy="1088708"/>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Constraint checks ensure no overlapping assignments for resources or teachers.</a:t>
            </a:r>
            <a:endParaRPr lang="en-US" sz="1750" dirty="0"/>
          </a:p>
        </p:txBody>
      </p:sp>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3790" y="4851916"/>
            <a:ext cx="566976" cy="566976"/>
          </a:xfrm>
          <a:prstGeom prst="rect">
            <a:avLst/>
          </a:prstGeom>
        </p:spPr>
      </p:pic>
      <p:sp>
        <p:nvSpPr>
          <p:cNvPr id="13" name="Text 7"/>
          <p:cNvSpPr/>
          <p:nvPr/>
        </p:nvSpPr>
        <p:spPr>
          <a:xfrm>
            <a:off x="1644253" y="4851916"/>
            <a:ext cx="3093006"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Teacher Allocation System</a:t>
            </a:r>
            <a:endParaRPr lang="en-US" sz="2200" dirty="0"/>
          </a:p>
        </p:txBody>
      </p:sp>
      <p:sp>
        <p:nvSpPr>
          <p:cNvPr id="14" name="Text 8"/>
          <p:cNvSpPr/>
          <p:nvPr/>
        </p:nvSpPr>
        <p:spPr>
          <a:xfrm>
            <a:off x="1644253" y="5342334"/>
            <a:ext cx="3308152" cy="725805"/>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Respects availability, workload balance, and specialization.</a:t>
            </a:r>
            <a:endParaRPr lang="en-US" sz="1750" dirty="0"/>
          </a:p>
        </p:txBody>
      </p:sp>
      <p:pic>
        <p:nvPicPr>
          <p:cNvPr id="1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235893" y="4851916"/>
            <a:ext cx="566976" cy="566976"/>
          </a:xfrm>
          <a:prstGeom prst="rect">
            <a:avLst/>
          </a:prstGeom>
        </p:spPr>
      </p:pic>
      <p:sp>
        <p:nvSpPr>
          <p:cNvPr id="16" name="Text 9"/>
          <p:cNvSpPr/>
          <p:nvPr/>
        </p:nvSpPr>
        <p:spPr>
          <a:xfrm>
            <a:off x="6086356" y="485191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Scalable Design</a:t>
            </a:r>
            <a:endParaRPr lang="en-US" sz="2200" dirty="0"/>
          </a:p>
        </p:txBody>
      </p:sp>
      <p:sp>
        <p:nvSpPr>
          <p:cNvPr id="17" name="Text 10"/>
          <p:cNvSpPr/>
          <p:nvPr/>
        </p:nvSpPr>
        <p:spPr>
          <a:xfrm>
            <a:off x="6086356" y="5342334"/>
            <a:ext cx="3308152" cy="1088708"/>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Modular architecture to handle growing student cohorts and additional constraints.</a:t>
            </a:r>
            <a:endParaRPr lang="en-US" sz="1750" dirty="0"/>
          </a:p>
        </p:txBody>
      </p:sp>
      <p:sp>
        <p:nvSpPr>
          <p:cNvPr id="18" name="Rectangle 17">
            <a:extLst>
              <a:ext uri="{FF2B5EF4-FFF2-40B4-BE49-F238E27FC236}">
                <a16:creationId xmlns:a16="http://schemas.microsoft.com/office/drawing/2014/main" id="{5E12CFC1-498E-C227-5B4A-48667712C6FB}"/>
              </a:ext>
            </a:extLst>
          </p:cNvPr>
          <p:cNvSpPr/>
          <p:nvPr/>
        </p:nvSpPr>
        <p:spPr>
          <a:xfrm>
            <a:off x="12614564" y="7408718"/>
            <a:ext cx="1911927" cy="685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22828" y="631031"/>
            <a:ext cx="4130993" cy="516374"/>
          </a:xfrm>
          <a:prstGeom prst="rect">
            <a:avLst/>
          </a:prstGeom>
          <a:noFill/>
          <a:ln/>
        </p:spPr>
        <p:txBody>
          <a:bodyPr wrap="none" lIns="0" tIns="0" rIns="0" bIns="0" rtlCol="0" anchor="t"/>
          <a:lstStyle/>
          <a:p>
            <a:pPr marL="0" indent="0" algn="l">
              <a:lnSpc>
                <a:spcPts val="4050"/>
              </a:lnSpc>
              <a:buNone/>
            </a:pPr>
            <a:r>
              <a:rPr lang="en-US" sz="3250" dirty="0">
                <a:solidFill>
                  <a:srgbClr val="152D47"/>
                </a:solidFill>
                <a:latin typeface="Crimson Pro Semi Bold" pitchFamily="34" charset="0"/>
                <a:ea typeface="Crimson Pro Semi Bold" pitchFamily="34" charset="-122"/>
                <a:cs typeface="Crimson Pro Semi Bold" pitchFamily="34" charset="-120"/>
              </a:rPr>
              <a:t>Project Timeline</a:t>
            </a:r>
            <a:endParaRPr lang="en-US" sz="3250" dirty="0"/>
          </a:p>
        </p:txBody>
      </p:sp>
      <p:sp>
        <p:nvSpPr>
          <p:cNvPr id="3" name="Shape 1"/>
          <p:cNvSpPr/>
          <p:nvPr/>
        </p:nvSpPr>
        <p:spPr>
          <a:xfrm>
            <a:off x="7303770" y="1523524"/>
            <a:ext cx="22860" cy="6074926"/>
          </a:xfrm>
          <a:prstGeom prst="roundRect">
            <a:avLst>
              <a:gd name="adj" fmla="val 135535"/>
            </a:avLst>
          </a:prstGeom>
          <a:solidFill>
            <a:srgbClr val="D8D4D4"/>
          </a:solidFill>
          <a:ln/>
        </p:spPr>
      </p:sp>
      <p:sp>
        <p:nvSpPr>
          <p:cNvPr id="4" name="Shape 2"/>
          <p:cNvSpPr/>
          <p:nvPr/>
        </p:nvSpPr>
        <p:spPr>
          <a:xfrm>
            <a:off x="6486108" y="1744385"/>
            <a:ext cx="619601" cy="22860"/>
          </a:xfrm>
          <a:prstGeom prst="roundRect">
            <a:avLst>
              <a:gd name="adj" fmla="val 135535"/>
            </a:avLst>
          </a:prstGeom>
          <a:solidFill>
            <a:srgbClr val="D8D4D4"/>
          </a:solidFill>
          <a:ln/>
        </p:spPr>
      </p:sp>
      <p:sp>
        <p:nvSpPr>
          <p:cNvPr id="5" name="Shape 3"/>
          <p:cNvSpPr/>
          <p:nvPr/>
        </p:nvSpPr>
        <p:spPr>
          <a:xfrm>
            <a:off x="7082850" y="1523524"/>
            <a:ext cx="464701" cy="464701"/>
          </a:xfrm>
          <a:prstGeom prst="roundRect">
            <a:avLst>
              <a:gd name="adj" fmla="val 6667"/>
            </a:avLst>
          </a:prstGeom>
          <a:solidFill>
            <a:srgbClr val="F2EEEE"/>
          </a:solidFill>
          <a:ln/>
        </p:spPr>
      </p:sp>
      <p:sp>
        <p:nvSpPr>
          <p:cNvPr id="6" name="Text 4"/>
          <p:cNvSpPr/>
          <p:nvPr/>
        </p:nvSpPr>
        <p:spPr>
          <a:xfrm>
            <a:off x="7160240" y="1562219"/>
            <a:ext cx="309801" cy="387191"/>
          </a:xfrm>
          <a:prstGeom prst="rect">
            <a:avLst/>
          </a:prstGeom>
          <a:noFill/>
          <a:ln/>
        </p:spPr>
        <p:txBody>
          <a:bodyPr wrap="none" lIns="0" tIns="0" rIns="0" bIns="0" rtlCol="0" anchor="t"/>
          <a:lstStyle/>
          <a:p>
            <a:pPr marL="0" indent="0" algn="ctr">
              <a:lnSpc>
                <a:spcPts val="2400"/>
              </a:lnSpc>
              <a:buNone/>
            </a:pPr>
            <a:r>
              <a:rPr lang="en-US" sz="2400" dirty="0">
                <a:solidFill>
                  <a:srgbClr val="4C4C4D"/>
                </a:solidFill>
                <a:latin typeface="Crimson Pro Semi Bold" pitchFamily="34" charset="0"/>
                <a:ea typeface="Crimson Pro Semi Bold" pitchFamily="34" charset="-122"/>
                <a:cs typeface="Crimson Pro Semi Bold" pitchFamily="34" charset="-120"/>
              </a:rPr>
              <a:t>1</a:t>
            </a:r>
            <a:endParaRPr lang="en-US" sz="2400" dirty="0"/>
          </a:p>
        </p:txBody>
      </p:sp>
      <p:sp>
        <p:nvSpPr>
          <p:cNvPr id="7" name="Text 5"/>
          <p:cNvSpPr/>
          <p:nvPr/>
        </p:nvSpPr>
        <p:spPr>
          <a:xfrm>
            <a:off x="3700582" y="1594485"/>
            <a:ext cx="2581870" cy="322778"/>
          </a:xfrm>
          <a:prstGeom prst="rect">
            <a:avLst/>
          </a:prstGeom>
          <a:noFill/>
          <a:ln/>
        </p:spPr>
        <p:txBody>
          <a:bodyPr wrap="none" lIns="0" tIns="0" rIns="0" bIns="0" rtlCol="0" anchor="t"/>
          <a:lstStyle/>
          <a:p>
            <a:pPr marL="0" indent="0" algn="r">
              <a:lnSpc>
                <a:spcPts val="25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Phase 1</a:t>
            </a:r>
            <a:endParaRPr lang="en-US" sz="2000" dirty="0"/>
          </a:p>
        </p:txBody>
      </p:sp>
      <p:sp>
        <p:nvSpPr>
          <p:cNvPr id="8" name="Text 6"/>
          <p:cNvSpPr/>
          <p:nvPr/>
        </p:nvSpPr>
        <p:spPr>
          <a:xfrm>
            <a:off x="722828" y="2030016"/>
            <a:ext cx="5559623" cy="315635"/>
          </a:xfrm>
          <a:prstGeom prst="rect">
            <a:avLst/>
          </a:prstGeom>
          <a:noFill/>
          <a:ln/>
        </p:spPr>
        <p:txBody>
          <a:bodyPr wrap="none" lIns="0" tIns="0" rIns="0" bIns="0" rtlCol="0" anchor="t"/>
          <a:lstStyle/>
          <a:p>
            <a:pPr marL="0" indent="0" algn="r">
              <a:lnSpc>
                <a:spcPts val="2450"/>
              </a:lnSpc>
              <a:buNone/>
            </a:pPr>
            <a:r>
              <a:rPr lang="en-US" sz="1600" dirty="0">
                <a:solidFill>
                  <a:srgbClr val="4C4C4D"/>
                </a:solidFill>
                <a:latin typeface="Heebo" pitchFamily="34" charset="0"/>
                <a:ea typeface="Heebo" pitchFamily="34" charset="-122"/>
                <a:cs typeface="Heebo" pitchFamily="34" charset="-120"/>
              </a:rPr>
              <a:t>Frontend &amp; basic logic — Completed</a:t>
            </a:r>
            <a:endParaRPr lang="en-US" sz="1600" dirty="0"/>
          </a:p>
        </p:txBody>
      </p:sp>
      <p:sp>
        <p:nvSpPr>
          <p:cNvPr id="9" name="Shape 7"/>
          <p:cNvSpPr/>
          <p:nvPr/>
        </p:nvSpPr>
        <p:spPr>
          <a:xfrm>
            <a:off x="7524690" y="2946678"/>
            <a:ext cx="619601" cy="22860"/>
          </a:xfrm>
          <a:prstGeom prst="roundRect">
            <a:avLst>
              <a:gd name="adj" fmla="val 135535"/>
            </a:avLst>
          </a:prstGeom>
          <a:solidFill>
            <a:srgbClr val="D8D4D4"/>
          </a:solidFill>
          <a:ln/>
        </p:spPr>
      </p:sp>
      <p:sp>
        <p:nvSpPr>
          <p:cNvPr id="10" name="Shape 8"/>
          <p:cNvSpPr/>
          <p:nvPr/>
        </p:nvSpPr>
        <p:spPr>
          <a:xfrm>
            <a:off x="7082850" y="2725817"/>
            <a:ext cx="464701" cy="464701"/>
          </a:xfrm>
          <a:prstGeom prst="roundRect">
            <a:avLst>
              <a:gd name="adj" fmla="val 6667"/>
            </a:avLst>
          </a:prstGeom>
          <a:solidFill>
            <a:srgbClr val="F2EEEE"/>
          </a:solidFill>
          <a:ln/>
        </p:spPr>
      </p:sp>
      <p:sp>
        <p:nvSpPr>
          <p:cNvPr id="11" name="Text 9"/>
          <p:cNvSpPr/>
          <p:nvPr/>
        </p:nvSpPr>
        <p:spPr>
          <a:xfrm>
            <a:off x="7160240" y="2764512"/>
            <a:ext cx="309801" cy="387191"/>
          </a:xfrm>
          <a:prstGeom prst="rect">
            <a:avLst/>
          </a:prstGeom>
          <a:noFill/>
          <a:ln/>
        </p:spPr>
        <p:txBody>
          <a:bodyPr wrap="none" lIns="0" tIns="0" rIns="0" bIns="0" rtlCol="0" anchor="t"/>
          <a:lstStyle/>
          <a:p>
            <a:pPr marL="0" indent="0" algn="ctr">
              <a:lnSpc>
                <a:spcPts val="2400"/>
              </a:lnSpc>
              <a:buNone/>
            </a:pPr>
            <a:r>
              <a:rPr lang="en-US" sz="2400" dirty="0">
                <a:solidFill>
                  <a:srgbClr val="4C4C4D"/>
                </a:solidFill>
                <a:latin typeface="Crimson Pro Semi Bold" pitchFamily="34" charset="0"/>
                <a:ea typeface="Crimson Pro Semi Bold" pitchFamily="34" charset="-122"/>
                <a:cs typeface="Crimson Pro Semi Bold" pitchFamily="34" charset="-120"/>
              </a:rPr>
              <a:t>2</a:t>
            </a:r>
            <a:endParaRPr lang="en-US" sz="2400" dirty="0"/>
          </a:p>
        </p:txBody>
      </p:sp>
      <p:sp>
        <p:nvSpPr>
          <p:cNvPr id="12" name="Text 10"/>
          <p:cNvSpPr/>
          <p:nvPr/>
        </p:nvSpPr>
        <p:spPr>
          <a:xfrm>
            <a:off x="8347948" y="2796778"/>
            <a:ext cx="2581870" cy="322778"/>
          </a:xfrm>
          <a:prstGeom prst="rect">
            <a:avLst/>
          </a:prstGeom>
          <a:noFill/>
          <a:ln/>
        </p:spPr>
        <p:txBody>
          <a:bodyPr wrap="none" lIns="0" tIns="0" rIns="0" bIns="0" rtlCol="0" anchor="t"/>
          <a:lstStyle/>
          <a:p>
            <a:pPr marL="0" indent="0" algn="l">
              <a:lnSpc>
                <a:spcPts val="25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Phase 2</a:t>
            </a:r>
            <a:endParaRPr lang="en-US" sz="2000" dirty="0"/>
          </a:p>
        </p:txBody>
      </p:sp>
      <p:sp>
        <p:nvSpPr>
          <p:cNvPr id="13" name="Text 11"/>
          <p:cNvSpPr/>
          <p:nvPr/>
        </p:nvSpPr>
        <p:spPr>
          <a:xfrm>
            <a:off x="8347948" y="3232309"/>
            <a:ext cx="5559623" cy="315635"/>
          </a:xfrm>
          <a:prstGeom prst="rect">
            <a:avLst/>
          </a:prstGeom>
          <a:noFill/>
          <a:ln/>
        </p:spPr>
        <p:txBody>
          <a:bodyPr wrap="none" lIns="0" tIns="0" rIns="0" bIns="0" rtlCol="0" anchor="t"/>
          <a:lstStyle/>
          <a:p>
            <a:pPr marL="0" indent="0" algn="l">
              <a:lnSpc>
                <a:spcPts val="2450"/>
              </a:lnSpc>
              <a:buNone/>
            </a:pPr>
            <a:r>
              <a:rPr lang="en-US" sz="1600" dirty="0">
                <a:solidFill>
                  <a:srgbClr val="4C4C4D"/>
                </a:solidFill>
                <a:latin typeface="Heebo" pitchFamily="34" charset="0"/>
                <a:ea typeface="Heebo" pitchFamily="34" charset="-122"/>
                <a:cs typeface="Heebo" pitchFamily="34" charset="-120"/>
              </a:rPr>
              <a:t>Backend improvement — ongoing</a:t>
            </a:r>
            <a:endParaRPr lang="en-US" sz="1600" dirty="0"/>
          </a:p>
        </p:txBody>
      </p:sp>
      <p:sp>
        <p:nvSpPr>
          <p:cNvPr id="14" name="Shape 12"/>
          <p:cNvSpPr/>
          <p:nvPr/>
        </p:nvSpPr>
        <p:spPr>
          <a:xfrm>
            <a:off x="6486108" y="3996333"/>
            <a:ext cx="619601" cy="22860"/>
          </a:xfrm>
          <a:prstGeom prst="roundRect">
            <a:avLst>
              <a:gd name="adj" fmla="val 135535"/>
            </a:avLst>
          </a:prstGeom>
          <a:solidFill>
            <a:srgbClr val="D8D4D4"/>
          </a:solidFill>
          <a:ln/>
        </p:spPr>
      </p:sp>
      <p:sp>
        <p:nvSpPr>
          <p:cNvPr id="15" name="Shape 13"/>
          <p:cNvSpPr/>
          <p:nvPr/>
        </p:nvSpPr>
        <p:spPr>
          <a:xfrm>
            <a:off x="7082850" y="3775472"/>
            <a:ext cx="464701" cy="464701"/>
          </a:xfrm>
          <a:prstGeom prst="roundRect">
            <a:avLst>
              <a:gd name="adj" fmla="val 6667"/>
            </a:avLst>
          </a:prstGeom>
          <a:solidFill>
            <a:srgbClr val="F2EEEE"/>
          </a:solidFill>
          <a:ln/>
        </p:spPr>
      </p:sp>
      <p:sp>
        <p:nvSpPr>
          <p:cNvPr id="16" name="Text 14"/>
          <p:cNvSpPr/>
          <p:nvPr/>
        </p:nvSpPr>
        <p:spPr>
          <a:xfrm>
            <a:off x="7160240" y="3814167"/>
            <a:ext cx="309801" cy="387191"/>
          </a:xfrm>
          <a:prstGeom prst="rect">
            <a:avLst/>
          </a:prstGeom>
          <a:noFill/>
          <a:ln/>
        </p:spPr>
        <p:txBody>
          <a:bodyPr wrap="none" lIns="0" tIns="0" rIns="0" bIns="0" rtlCol="0" anchor="t"/>
          <a:lstStyle/>
          <a:p>
            <a:pPr marL="0" indent="0" algn="ctr">
              <a:lnSpc>
                <a:spcPts val="2400"/>
              </a:lnSpc>
              <a:buNone/>
            </a:pPr>
            <a:r>
              <a:rPr lang="en-US" sz="2400" dirty="0">
                <a:solidFill>
                  <a:srgbClr val="4C4C4D"/>
                </a:solidFill>
                <a:latin typeface="Crimson Pro Semi Bold" pitchFamily="34" charset="0"/>
                <a:ea typeface="Crimson Pro Semi Bold" pitchFamily="34" charset="-122"/>
                <a:cs typeface="Crimson Pro Semi Bold" pitchFamily="34" charset="-120"/>
              </a:rPr>
              <a:t>3</a:t>
            </a:r>
            <a:endParaRPr lang="en-US" sz="2400" dirty="0"/>
          </a:p>
        </p:txBody>
      </p:sp>
      <p:sp>
        <p:nvSpPr>
          <p:cNvPr id="17" name="Text 15"/>
          <p:cNvSpPr/>
          <p:nvPr/>
        </p:nvSpPr>
        <p:spPr>
          <a:xfrm>
            <a:off x="3700582" y="3846433"/>
            <a:ext cx="2581870" cy="322778"/>
          </a:xfrm>
          <a:prstGeom prst="rect">
            <a:avLst/>
          </a:prstGeom>
          <a:noFill/>
          <a:ln/>
        </p:spPr>
        <p:txBody>
          <a:bodyPr wrap="none" lIns="0" tIns="0" rIns="0" bIns="0" rtlCol="0" anchor="t"/>
          <a:lstStyle/>
          <a:p>
            <a:pPr marL="0" indent="0" algn="r">
              <a:lnSpc>
                <a:spcPts val="25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Phase 3</a:t>
            </a:r>
            <a:endParaRPr lang="en-US" sz="2000" dirty="0"/>
          </a:p>
        </p:txBody>
      </p:sp>
      <p:sp>
        <p:nvSpPr>
          <p:cNvPr id="18" name="Text 16"/>
          <p:cNvSpPr/>
          <p:nvPr/>
        </p:nvSpPr>
        <p:spPr>
          <a:xfrm>
            <a:off x="722828" y="4281964"/>
            <a:ext cx="5559623" cy="315635"/>
          </a:xfrm>
          <a:prstGeom prst="rect">
            <a:avLst/>
          </a:prstGeom>
          <a:noFill/>
          <a:ln/>
        </p:spPr>
        <p:txBody>
          <a:bodyPr wrap="none" lIns="0" tIns="0" rIns="0" bIns="0" rtlCol="0" anchor="t"/>
          <a:lstStyle/>
          <a:p>
            <a:pPr marL="0" indent="0" algn="r">
              <a:lnSpc>
                <a:spcPts val="2450"/>
              </a:lnSpc>
              <a:buNone/>
            </a:pPr>
            <a:r>
              <a:rPr lang="en-US" sz="1600" dirty="0">
                <a:solidFill>
                  <a:srgbClr val="4C4C4D"/>
                </a:solidFill>
                <a:latin typeface="Heebo" pitchFamily="34" charset="0"/>
                <a:ea typeface="Heebo" pitchFamily="34" charset="-122"/>
                <a:cs typeface="Heebo" pitchFamily="34" charset="-120"/>
              </a:rPr>
              <a:t>AI integration — planned</a:t>
            </a:r>
            <a:endParaRPr lang="en-US" sz="1600" dirty="0"/>
          </a:p>
        </p:txBody>
      </p:sp>
      <p:sp>
        <p:nvSpPr>
          <p:cNvPr id="19" name="Shape 17"/>
          <p:cNvSpPr/>
          <p:nvPr/>
        </p:nvSpPr>
        <p:spPr>
          <a:xfrm>
            <a:off x="7524690" y="5046107"/>
            <a:ext cx="619601" cy="22860"/>
          </a:xfrm>
          <a:prstGeom prst="roundRect">
            <a:avLst>
              <a:gd name="adj" fmla="val 135535"/>
            </a:avLst>
          </a:prstGeom>
          <a:solidFill>
            <a:srgbClr val="D8D4D4"/>
          </a:solidFill>
          <a:ln/>
        </p:spPr>
      </p:sp>
      <p:sp>
        <p:nvSpPr>
          <p:cNvPr id="20" name="Shape 18"/>
          <p:cNvSpPr/>
          <p:nvPr/>
        </p:nvSpPr>
        <p:spPr>
          <a:xfrm>
            <a:off x="7082850" y="4825246"/>
            <a:ext cx="464701" cy="464701"/>
          </a:xfrm>
          <a:prstGeom prst="roundRect">
            <a:avLst>
              <a:gd name="adj" fmla="val 6667"/>
            </a:avLst>
          </a:prstGeom>
          <a:solidFill>
            <a:srgbClr val="F2EEEE"/>
          </a:solidFill>
          <a:ln/>
        </p:spPr>
      </p:sp>
      <p:sp>
        <p:nvSpPr>
          <p:cNvPr id="21" name="Text 19"/>
          <p:cNvSpPr/>
          <p:nvPr/>
        </p:nvSpPr>
        <p:spPr>
          <a:xfrm>
            <a:off x="7160240" y="4863941"/>
            <a:ext cx="309801" cy="387191"/>
          </a:xfrm>
          <a:prstGeom prst="rect">
            <a:avLst/>
          </a:prstGeom>
          <a:noFill/>
          <a:ln/>
        </p:spPr>
        <p:txBody>
          <a:bodyPr wrap="none" lIns="0" tIns="0" rIns="0" bIns="0" rtlCol="0" anchor="t"/>
          <a:lstStyle/>
          <a:p>
            <a:pPr marL="0" indent="0" algn="ctr">
              <a:lnSpc>
                <a:spcPts val="2400"/>
              </a:lnSpc>
              <a:buNone/>
            </a:pPr>
            <a:r>
              <a:rPr lang="en-US" sz="2400" dirty="0">
                <a:solidFill>
                  <a:srgbClr val="4C4C4D"/>
                </a:solidFill>
                <a:latin typeface="Crimson Pro Semi Bold" pitchFamily="34" charset="0"/>
                <a:ea typeface="Crimson Pro Semi Bold" pitchFamily="34" charset="-122"/>
                <a:cs typeface="Crimson Pro Semi Bold" pitchFamily="34" charset="-120"/>
              </a:rPr>
              <a:t>4</a:t>
            </a:r>
            <a:endParaRPr lang="en-US" sz="2400" dirty="0"/>
          </a:p>
        </p:txBody>
      </p:sp>
      <p:sp>
        <p:nvSpPr>
          <p:cNvPr id="22" name="Text 20"/>
          <p:cNvSpPr/>
          <p:nvPr/>
        </p:nvSpPr>
        <p:spPr>
          <a:xfrm>
            <a:off x="8347948" y="4896207"/>
            <a:ext cx="2581870" cy="322778"/>
          </a:xfrm>
          <a:prstGeom prst="rect">
            <a:avLst/>
          </a:prstGeom>
          <a:noFill/>
          <a:ln/>
        </p:spPr>
        <p:txBody>
          <a:bodyPr wrap="none" lIns="0" tIns="0" rIns="0" bIns="0" rtlCol="0" anchor="t"/>
          <a:lstStyle/>
          <a:p>
            <a:pPr marL="0" indent="0" algn="l">
              <a:lnSpc>
                <a:spcPts val="25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Phase 4</a:t>
            </a:r>
            <a:endParaRPr lang="en-US" sz="2000" dirty="0"/>
          </a:p>
        </p:txBody>
      </p:sp>
      <p:sp>
        <p:nvSpPr>
          <p:cNvPr id="23" name="Text 21"/>
          <p:cNvSpPr/>
          <p:nvPr/>
        </p:nvSpPr>
        <p:spPr>
          <a:xfrm>
            <a:off x="8347948" y="5331738"/>
            <a:ext cx="5559623" cy="315635"/>
          </a:xfrm>
          <a:prstGeom prst="rect">
            <a:avLst/>
          </a:prstGeom>
          <a:noFill/>
          <a:ln/>
        </p:spPr>
        <p:txBody>
          <a:bodyPr wrap="none" lIns="0" tIns="0" rIns="0" bIns="0" rtlCol="0" anchor="t"/>
          <a:lstStyle/>
          <a:p>
            <a:pPr marL="0" indent="0" algn="l">
              <a:lnSpc>
                <a:spcPts val="2450"/>
              </a:lnSpc>
              <a:buNone/>
            </a:pPr>
            <a:r>
              <a:rPr lang="en-US" sz="1600" dirty="0">
                <a:solidFill>
                  <a:srgbClr val="4C4C4D"/>
                </a:solidFill>
                <a:latin typeface="Heebo" pitchFamily="34" charset="0"/>
                <a:ea typeface="Heebo" pitchFamily="34" charset="-122"/>
                <a:cs typeface="Heebo" pitchFamily="34" charset="-120"/>
              </a:rPr>
              <a:t>Testing &amp; optimization — upcoming</a:t>
            </a:r>
            <a:endParaRPr lang="en-US" sz="1600" dirty="0"/>
          </a:p>
        </p:txBody>
      </p:sp>
      <p:sp>
        <p:nvSpPr>
          <p:cNvPr id="24" name="Shape 22"/>
          <p:cNvSpPr/>
          <p:nvPr/>
        </p:nvSpPr>
        <p:spPr>
          <a:xfrm>
            <a:off x="6486108" y="6095881"/>
            <a:ext cx="619601" cy="22860"/>
          </a:xfrm>
          <a:prstGeom prst="roundRect">
            <a:avLst>
              <a:gd name="adj" fmla="val 135535"/>
            </a:avLst>
          </a:prstGeom>
          <a:solidFill>
            <a:srgbClr val="D8D4D4"/>
          </a:solidFill>
          <a:ln/>
        </p:spPr>
      </p:sp>
      <p:sp>
        <p:nvSpPr>
          <p:cNvPr id="25" name="Shape 23"/>
          <p:cNvSpPr/>
          <p:nvPr/>
        </p:nvSpPr>
        <p:spPr>
          <a:xfrm>
            <a:off x="7082850" y="5875020"/>
            <a:ext cx="464701" cy="464701"/>
          </a:xfrm>
          <a:prstGeom prst="roundRect">
            <a:avLst>
              <a:gd name="adj" fmla="val 6667"/>
            </a:avLst>
          </a:prstGeom>
          <a:solidFill>
            <a:srgbClr val="F2EEEE"/>
          </a:solidFill>
          <a:ln/>
        </p:spPr>
      </p:sp>
      <p:sp>
        <p:nvSpPr>
          <p:cNvPr id="26" name="Text 24"/>
          <p:cNvSpPr/>
          <p:nvPr/>
        </p:nvSpPr>
        <p:spPr>
          <a:xfrm>
            <a:off x="7160240" y="5913715"/>
            <a:ext cx="309801" cy="387191"/>
          </a:xfrm>
          <a:prstGeom prst="rect">
            <a:avLst/>
          </a:prstGeom>
          <a:noFill/>
          <a:ln/>
        </p:spPr>
        <p:txBody>
          <a:bodyPr wrap="none" lIns="0" tIns="0" rIns="0" bIns="0" rtlCol="0" anchor="t"/>
          <a:lstStyle/>
          <a:p>
            <a:pPr marL="0" indent="0" algn="ctr">
              <a:lnSpc>
                <a:spcPts val="2400"/>
              </a:lnSpc>
              <a:buNone/>
            </a:pPr>
            <a:r>
              <a:rPr lang="en-US" sz="2400" dirty="0">
                <a:solidFill>
                  <a:srgbClr val="4C4C4D"/>
                </a:solidFill>
                <a:latin typeface="Crimson Pro Semi Bold" pitchFamily="34" charset="0"/>
                <a:ea typeface="Crimson Pro Semi Bold" pitchFamily="34" charset="-122"/>
                <a:cs typeface="Crimson Pro Semi Bold" pitchFamily="34" charset="-120"/>
              </a:rPr>
              <a:t>5</a:t>
            </a:r>
            <a:endParaRPr lang="en-US" sz="2400" dirty="0"/>
          </a:p>
        </p:txBody>
      </p:sp>
      <p:sp>
        <p:nvSpPr>
          <p:cNvPr id="27" name="Text 25"/>
          <p:cNvSpPr/>
          <p:nvPr/>
        </p:nvSpPr>
        <p:spPr>
          <a:xfrm>
            <a:off x="3700582" y="5945981"/>
            <a:ext cx="2581870" cy="322778"/>
          </a:xfrm>
          <a:prstGeom prst="rect">
            <a:avLst/>
          </a:prstGeom>
          <a:noFill/>
          <a:ln/>
        </p:spPr>
        <p:txBody>
          <a:bodyPr wrap="none" lIns="0" tIns="0" rIns="0" bIns="0" rtlCol="0" anchor="t"/>
          <a:lstStyle/>
          <a:p>
            <a:pPr marL="0" indent="0" algn="r">
              <a:lnSpc>
                <a:spcPts val="25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Phase 5</a:t>
            </a:r>
            <a:endParaRPr lang="en-US" sz="2000" dirty="0"/>
          </a:p>
        </p:txBody>
      </p:sp>
      <p:sp>
        <p:nvSpPr>
          <p:cNvPr id="28" name="Text 26"/>
          <p:cNvSpPr/>
          <p:nvPr/>
        </p:nvSpPr>
        <p:spPr>
          <a:xfrm>
            <a:off x="722828" y="6381512"/>
            <a:ext cx="5559623" cy="315635"/>
          </a:xfrm>
          <a:prstGeom prst="rect">
            <a:avLst/>
          </a:prstGeom>
          <a:noFill/>
          <a:ln/>
        </p:spPr>
        <p:txBody>
          <a:bodyPr wrap="none" lIns="0" tIns="0" rIns="0" bIns="0" rtlCol="0" anchor="t"/>
          <a:lstStyle/>
          <a:p>
            <a:pPr marL="0" indent="0" algn="r">
              <a:lnSpc>
                <a:spcPts val="2450"/>
              </a:lnSpc>
              <a:buNone/>
            </a:pPr>
            <a:r>
              <a:rPr lang="en-US" sz="1600" dirty="0">
                <a:solidFill>
                  <a:srgbClr val="4C4C4D"/>
                </a:solidFill>
                <a:latin typeface="Heebo" pitchFamily="34" charset="0"/>
                <a:ea typeface="Heebo" pitchFamily="34" charset="-122"/>
                <a:cs typeface="Heebo" pitchFamily="34" charset="-120"/>
              </a:rPr>
              <a:t>Deployment &amp; training — final rollout</a:t>
            </a:r>
            <a:endParaRPr lang="en-US" sz="1600" dirty="0"/>
          </a:p>
        </p:txBody>
      </p:sp>
      <p:sp>
        <p:nvSpPr>
          <p:cNvPr id="29" name="Rectangle 28">
            <a:extLst>
              <a:ext uri="{FF2B5EF4-FFF2-40B4-BE49-F238E27FC236}">
                <a16:creationId xmlns:a16="http://schemas.microsoft.com/office/drawing/2014/main" id="{26FF19B8-50ED-CBB7-1AB3-B4134C1D5830}"/>
              </a:ext>
            </a:extLst>
          </p:cNvPr>
          <p:cNvSpPr/>
          <p:nvPr/>
        </p:nvSpPr>
        <p:spPr>
          <a:xfrm>
            <a:off x="12614564" y="7574973"/>
            <a:ext cx="1911927" cy="58189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61616" y="741521"/>
            <a:ext cx="4896326" cy="553760"/>
          </a:xfrm>
          <a:prstGeom prst="rect">
            <a:avLst/>
          </a:prstGeom>
          <a:noFill/>
          <a:ln/>
        </p:spPr>
        <p:txBody>
          <a:bodyPr wrap="none" lIns="0" tIns="0" rIns="0" bIns="0" rtlCol="0" anchor="t"/>
          <a:lstStyle/>
          <a:p>
            <a:pPr marL="0" indent="0" algn="l">
              <a:lnSpc>
                <a:spcPts val="4350"/>
              </a:lnSpc>
              <a:buNone/>
            </a:pPr>
            <a:r>
              <a:rPr lang="en-US" sz="3450" dirty="0">
                <a:solidFill>
                  <a:srgbClr val="152D47"/>
                </a:solidFill>
                <a:latin typeface="Crimson Pro Semi Bold" pitchFamily="34" charset="0"/>
                <a:ea typeface="Crimson Pro Semi Bold" pitchFamily="34" charset="-122"/>
                <a:cs typeface="Crimson Pro Semi Bold" pitchFamily="34" charset="-120"/>
              </a:rPr>
              <a:t>Conclusion &amp; Future Work</a:t>
            </a:r>
            <a:endParaRPr lang="en-US" sz="3450" dirty="0"/>
          </a:p>
        </p:txBody>
      </p:sp>
      <p:sp>
        <p:nvSpPr>
          <p:cNvPr id="4" name="Text 1"/>
          <p:cNvSpPr/>
          <p:nvPr/>
        </p:nvSpPr>
        <p:spPr>
          <a:xfrm>
            <a:off x="6261616" y="1814155"/>
            <a:ext cx="4746665" cy="3151465"/>
          </a:xfrm>
          <a:prstGeom prst="rect">
            <a:avLst/>
          </a:prstGeom>
          <a:noFill/>
          <a:ln/>
        </p:spPr>
        <p:txBody>
          <a:bodyPr wrap="square" lIns="0" tIns="0" rIns="0" bIns="0" rtlCol="0" anchor="t"/>
          <a:lstStyle/>
          <a:p>
            <a:pPr marL="0" indent="0" algn="l">
              <a:lnSpc>
                <a:spcPts val="2750"/>
              </a:lnSpc>
              <a:buNone/>
            </a:pPr>
            <a:r>
              <a:rPr lang="en-US" sz="1700" dirty="0">
                <a:solidFill>
                  <a:srgbClr val="4C4C4D"/>
                </a:solidFill>
                <a:latin typeface="Heebo" pitchFamily="34" charset="0"/>
                <a:ea typeface="Heebo" pitchFamily="34" charset="-122"/>
                <a:cs typeface="Heebo" pitchFamily="34" charset="-120"/>
              </a:rPr>
              <a:t>The Smart Timetable Generator dramatically reduces manual workload and scheduling errors. The current release provides a functioning, logic-based timetable engine and a polished frontend. Integrating an AI optimization module is the next priority to enable dynamic, efficient, and adaptive scheduling that responds to ad hoc changes and complex constraints.</a:t>
            </a:r>
            <a:endParaRPr lang="en-US" sz="1700" dirty="0"/>
          </a:p>
        </p:txBody>
      </p:sp>
      <p:sp>
        <p:nvSpPr>
          <p:cNvPr id="5" name="Text 2"/>
          <p:cNvSpPr/>
          <p:nvPr/>
        </p:nvSpPr>
        <p:spPr>
          <a:xfrm>
            <a:off x="6261616" y="5160169"/>
            <a:ext cx="4746665" cy="2252186"/>
          </a:xfrm>
          <a:prstGeom prst="rect">
            <a:avLst/>
          </a:prstGeom>
          <a:noFill/>
          <a:ln/>
        </p:spPr>
        <p:txBody>
          <a:bodyPr wrap="square" lIns="0" tIns="0" rIns="0" bIns="0" rtlCol="0" anchor="t"/>
          <a:lstStyle/>
          <a:p>
            <a:pPr marL="342900" indent="-342900" algn="l">
              <a:lnSpc>
                <a:spcPts val="2750"/>
              </a:lnSpc>
              <a:buSzPct val="100000"/>
              <a:buChar char="•"/>
            </a:pPr>
            <a:r>
              <a:rPr lang="en-US" sz="1700" dirty="0">
                <a:solidFill>
                  <a:srgbClr val="4C4C4D"/>
                </a:solidFill>
                <a:latin typeface="Heebo" pitchFamily="34" charset="0"/>
                <a:ea typeface="Heebo" pitchFamily="34" charset="-122"/>
                <a:cs typeface="Heebo" pitchFamily="34" charset="-120"/>
              </a:rPr>
              <a:t>Short-term: strengthen backend, add richer constraint types</a:t>
            </a:r>
            <a:endParaRPr lang="en-US" sz="1700" dirty="0"/>
          </a:p>
          <a:p>
            <a:pPr marL="342900" indent="-342900" algn="l">
              <a:lnSpc>
                <a:spcPts val="2750"/>
              </a:lnSpc>
              <a:buSzPct val="100000"/>
              <a:buChar char="•"/>
            </a:pPr>
            <a:r>
              <a:rPr lang="en-US" sz="1700" dirty="0">
                <a:solidFill>
                  <a:srgbClr val="4C4C4D"/>
                </a:solidFill>
                <a:latin typeface="Heebo" pitchFamily="34" charset="0"/>
                <a:ea typeface="Heebo" pitchFamily="34" charset="-122"/>
                <a:cs typeface="Heebo" pitchFamily="34" charset="-120"/>
              </a:rPr>
              <a:t>Medium-term: integrate ML/AI for optimization and predictions</a:t>
            </a:r>
            <a:endParaRPr lang="en-US" sz="1700" dirty="0"/>
          </a:p>
          <a:p>
            <a:pPr marL="342900" indent="-342900" algn="l">
              <a:lnSpc>
                <a:spcPts val="2750"/>
              </a:lnSpc>
              <a:buSzPct val="100000"/>
              <a:buChar char="•"/>
            </a:pPr>
            <a:r>
              <a:rPr lang="en-US" sz="1700" dirty="0">
                <a:solidFill>
                  <a:srgbClr val="4C4C4D"/>
                </a:solidFill>
                <a:latin typeface="Heebo" pitchFamily="34" charset="0"/>
                <a:ea typeface="Heebo" pitchFamily="34" charset="-122"/>
                <a:cs typeface="Heebo" pitchFamily="34" charset="-120"/>
              </a:rPr>
              <a:t>Long-term: real-time adaptation, user feedback loop, multi-campus support</a:t>
            </a:r>
            <a:endParaRPr lang="en-US" sz="1700" dirty="0"/>
          </a:p>
        </p:txBody>
      </p:sp>
      <p:sp>
        <p:nvSpPr>
          <p:cNvPr id="6" name="Text 3"/>
          <p:cNvSpPr/>
          <p:nvPr/>
        </p:nvSpPr>
        <p:spPr>
          <a:xfrm>
            <a:off x="11556206" y="1835825"/>
            <a:ext cx="2306479" cy="345996"/>
          </a:xfrm>
          <a:prstGeom prst="rect">
            <a:avLst/>
          </a:prstGeom>
          <a:noFill/>
          <a:ln/>
        </p:spPr>
        <p:txBody>
          <a:bodyPr wrap="none" lIns="0" tIns="0" rIns="0" bIns="0" rtlCol="0" anchor="t"/>
          <a:lstStyle/>
          <a:p>
            <a:pPr marL="0" indent="0" algn="l">
              <a:lnSpc>
                <a:spcPts val="2700"/>
              </a:lnSpc>
              <a:buNone/>
            </a:pPr>
            <a:r>
              <a:rPr lang="en-US" sz="2150" dirty="0">
                <a:solidFill>
                  <a:srgbClr val="152D47"/>
                </a:solidFill>
                <a:latin typeface="Crimson Pro Semi Bold" pitchFamily="34" charset="0"/>
                <a:ea typeface="Crimson Pro Semi Bold" pitchFamily="34" charset="-122"/>
                <a:cs typeface="Crimson Pro Semi Bold" pitchFamily="34" charset="-120"/>
              </a:rPr>
              <a:t>Next Steps</a:t>
            </a:r>
            <a:endParaRPr lang="en-US" sz="2150" dirty="0"/>
          </a:p>
        </p:txBody>
      </p:sp>
      <p:sp>
        <p:nvSpPr>
          <p:cNvPr id="7" name="Text 4"/>
          <p:cNvSpPr/>
          <p:nvPr/>
        </p:nvSpPr>
        <p:spPr>
          <a:xfrm>
            <a:off x="11556206" y="2398038"/>
            <a:ext cx="2306479" cy="1400651"/>
          </a:xfrm>
          <a:prstGeom prst="rect">
            <a:avLst/>
          </a:prstGeom>
          <a:noFill/>
          <a:ln/>
        </p:spPr>
        <p:txBody>
          <a:bodyPr wrap="square" lIns="0" tIns="0" rIns="0" bIns="0" rtlCol="0" anchor="t"/>
          <a:lstStyle/>
          <a:p>
            <a:pPr marL="0" indent="0" algn="l">
              <a:lnSpc>
                <a:spcPts val="2750"/>
              </a:lnSpc>
              <a:buNone/>
            </a:pPr>
            <a:r>
              <a:rPr lang="en-US" sz="1700" dirty="0">
                <a:solidFill>
                  <a:srgbClr val="4C4C4D"/>
                </a:solidFill>
                <a:latin typeface="Heebo" pitchFamily="34" charset="0"/>
                <a:ea typeface="Heebo" pitchFamily="34" charset="-122"/>
                <a:cs typeface="Heebo" pitchFamily="34" charset="-120"/>
              </a:rPr>
              <a:t>Prototype AI scheduler · Expand test dataset · Run pilot with department</a:t>
            </a:r>
            <a:endParaRPr lang="en-US" sz="1700" dirty="0"/>
          </a:p>
        </p:txBody>
      </p:sp>
      <p:sp>
        <p:nvSpPr>
          <p:cNvPr id="8" name="Shape 5"/>
          <p:cNvSpPr/>
          <p:nvPr/>
        </p:nvSpPr>
        <p:spPr>
          <a:xfrm>
            <a:off x="11556206" y="4041934"/>
            <a:ext cx="2306479" cy="3027998"/>
          </a:xfrm>
          <a:prstGeom prst="roundRect">
            <a:avLst>
              <a:gd name="adj" fmla="val 1440"/>
            </a:avLst>
          </a:prstGeom>
          <a:solidFill>
            <a:srgbClr val="B3C3FF"/>
          </a:solidFill>
          <a:ln/>
        </p:spPr>
      </p:sp>
      <p:pic>
        <p:nvPicPr>
          <p:cNvPr id="9" name="Image 1" descr="preencoded.png"/>
          <p:cNvPicPr>
            <a:picLocks noChangeAspect="1"/>
          </p:cNvPicPr>
          <p:nvPr/>
        </p:nvPicPr>
        <p:blipFill>
          <a:blip r:embed="rId4"/>
          <a:stretch>
            <a:fillRect/>
          </a:stretch>
        </p:blipFill>
        <p:spPr>
          <a:xfrm>
            <a:off x="11777662" y="4361140"/>
            <a:ext cx="276820" cy="221456"/>
          </a:xfrm>
          <a:prstGeom prst="rect">
            <a:avLst/>
          </a:prstGeom>
        </p:spPr>
      </p:pic>
      <p:sp>
        <p:nvSpPr>
          <p:cNvPr id="10" name="Text 6"/>
          <p:cNvSpPr/>
          <p:nvPr/>
        </p:nvSpPr>
        <p:spPr>
          <a:xfrm>
            <a:off x="12275939" y="4313515"/>
            <a:ext cx="1365290" cy="2451140"/>
          </a:xfrm>
          <a:prstGeom prst="rect">
            <a:avLst/>
          </a:prstGeom>
          <a:noFill/>
          <a:ln/>
        </p:spPr>
        <p:txBody>
          <a:bodyPr wrap="square" lIns="0" tIns="0" rIns="0" bIns="0" rtlCol="0" anchor="t"/>
          <a:lstStyle/>
          <a:p>
            <a:pPr marL="0" indent="0" algn="l">
              <a:lnSpc>
                <a:spcPts val="2750"/>
              </a:lnSpc>
              <a:buNone/>
            </a:pPr>
            <a:r>
              <a:rPr lang="en-US" sz="1700" dirty="0">
                <a:solidFill>
                  <a:srgbClr val="000000"/>
                </a:solidFill>
                <a:latin typeface="Heebo" pitchFamily="34" charset="0"/>
                <a:ea typeface="Heebo" pitchFamily="34" charset="-122"/>
                <a:cs typeface="Heebo" pitchFamily="34" charset="-120"/>
              </a:rPr>
              <a:t>Contact: Faculty Guide Saini Jacob Soman — ready for demo and evaluation</a:t>
            </a:r>
            <a:endParaRPr lang="en-US" sz="1700" dirty="0"/>
          </a:p>
        </p:txBody>
      </p:sp>
      <p:sp>
        <p:nvSpPr>
          <p:cNvPr id="11" name="Rectangle 10">
            <a:extLst>
              <a:ext uri="{FF2B5EF4-FFF2-40B4-BE49-F238E27FC236}">
                <a16:creationId xmlns:a16="http://schemas.microsoft.com/office/drawing/2014/main" id="{5482152A-A3E4-CC99-40BF-9ADA2EED9FCC}"/>
              </a:ext>
            </a:extLst>
          </p:cNvPr>
          <p:cNvSpPr/>
          <p:nvPr/>
        </p:nvSpPr>
        <p:spPr>
          <a:xfrm>
            <a:off x="12614564" y="7543800"/>
            <a:ext cx="1911927" cy="6130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615</Words>
  <Application>Microsoft Office PowerPoint</Application>
  <PresentationFormat>Custom</PresentationFormat>
  <Paragraphs>95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Heebo</vt:lpstr>
      <vt:lpstr>Crimson Pro Semi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Sanju Santhosh</cp:lastModifiedBy>
  <cp:revision>3</cp:revision>
  <dcterms:created xsi:type="dcterms:W3CDTF">2026-02-26T07:27:52Z</dcterms:created>
  <dcterms:modified xsi:type="dcterms:W3CDTF">2026-03-26T20:49:43Z</dcterms:modified>
</cp:coreProperties>
</file>